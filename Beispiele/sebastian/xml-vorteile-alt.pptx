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363C"/>
    <a:srgbClr val="323433"/>
    <a:srgbClr val="3335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68" autoAdjust="0"/>
    <p:restoredTop sz="86345"/>
  </p:normalViewPr>
  <p:slideViewPr>
    <p:cSldViewPr snapToGrid="0" snapToObjects="1">
      <p:cViewPr varScale="1">
        <p:scale>
          <a:sx n="90" d="100"/>
          <a:sy n="90" d="100"/>
        </p:scale>
        <p:origin x="368" y="4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204" d="100"/>
          <a:sy n="204" d="100"/>
        </p:scale>
        <p:origin x="456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5CCE98-7A8A-1F4E-8E01-D347D6ECE8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8" name="Kopfzeilenplatzhalter 7">
            <a:extLst>
              <a:ext uri="{FF2B5EF4-FFF2-40B4-BE49-F238E27FC236}">
                <a16:creationId xmlns:a16="http://schemas.microsoft.com/office/drawing/2014/main" id="{192C273B-FEF6-AE4D-B09E-85F88B929E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EAF9C09-C07A-1D43-937D-EA0F3D4E24E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6680" y="-545306"/>
            <a:ext cx="7556500" cy="14351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E4462FD-D5B8-3943-AFC9-E7EA2763D3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83488" y="6399148"/>
            <a:ext cx="7556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6384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/>
              <a:t>Test Header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D7801E-AADA-1C49-8F7E-9C272F90AE96}" type="datetimeFigureOut">
              <a:rPr lang="de-DE" smtClean="0"/>
              <a:t>04.03.25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Footer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75377-55E4-144D-8DDF-2D01BB12557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8858019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0">
            <a:extLst>
              <a:ext uri="{FF2B5EF4-FFF2-40B4-BE49-F238E27FC236}">
                <a16:creationId xmlns:a16="http://schemas.microsoft.com/office/drawing/2014/main" id="{176D0281-EE42-9C40-8817-A208A04239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8800" y="2409660"/>
            <a:ext cx="10515600" cy="8185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 48 Pt.</a:t>
            </a:r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A6C1E5B0-F333-2142-BEF9-1285544F6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8800" y="3501652"/>
            <a:ext cx="10515600" cy="2136237"/>
          </a:xfrm>
          <a:prstGeom prst="rect">
            <a:avLst/>
          </a:prstGeom>
        </p:spPr>
        <p:txBody>
          <a:bodyPr wrap="square" tIns="90000" rIns="90000"/>
          <a:lstStyle>
            <a:lvl1pPr marL="0" indent="0">
              <a:buNone/>
              <a:defRPr lang="de-CH" sz="1800" b="0" i="0" u="none" strike="noStrike" smtClean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Text</a:t>
            </a:r>
          </a:p>
        </p:txBody>
      </p:sp>
    </p:spTree>
    <p:extLst>
      <p:ext uri="{BB962C8B-B14F-4D97-AF65-F5344CB8AC3E}">
        <p14:creationId xmlns:p14="http://schemas.microsoft.com/office/powerpoint/2010/main" val="268571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nitts-&#10;überschrif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7D2D-94E5-5F27-C675-173A8B03C3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0799" y="3502800"/>
            <a:ext cx="5677951" cy="1824574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GB" dirty="0"/>
              <a:t>Click to add new Section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0473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0">
            <a:extLst>
              <a:ext uri="{FF2B5EF4-FFF2-40B4-BE49-F238E27FC236}">
                <a16:creationId xmlns:a16="http://schemas.microsoft.com/office/drawing/2014/main" id="{A22BD047-8E4C-527D-CCDC-BA7972E460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25209" y="1406536"/>
            <a:ext cx="8039191" cy="4962193"/>
          </a:xfrm>
          <a:prstGeom prst="rect">
            <a:avLst/>
          </a:prstGeom>
        </p:spPr>
        <p:txBody>
          <a:bodyPr/>
          <a:lstStyle>
            <a:lvl1pPr marL="285750" indent="-285750">
              <a:buFont typeface="Wingdings" pitchFamily="2" charset="2"/>
              <a:buChar char="§"/>
              <a:defRPr lang="de-CH" sz="20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CBEB1F-01F7-DDEA-4A4A-950B466AED68}"/>
              </a:ext>
            </a:extLst>
          </p:cNvPr>
          <p:cNvSpPr txBox="1"/>
          <p:nvPr userDrawn="1"/>
        </p:nvSpPr>
        <p:spPr>
          <a:xfrm>
            <a:off x="748800" y="1275659"/>
            <a:ext cx="2177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8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03531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&amp; Untertitel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17EBB82C-3E8A-1C48-925C-B76443032B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9300" y="1728000"/>
            <a:ext cx="10515600" cy="3063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Untertitel </a:t>
            </a:r>
            <a:r>
              <a:rPr lang="de-DE" dirty="0" err="1"/>
              <a:t>Roboto</a:t>
            </a:r>
            <a:r>
              <a:rPr lang="de-DE" dirty="0"/>
              <a:t> Regular 20 Pt.</a:t>
            </a:r>
          </a:p>
        </p:txBody>
      </p:sp>
      <p:sp>
        <p:nvSpPr>
          <p:cNvPr id="30" name="Inhaltsplatzhalter 29">
            <a:extLst>
              <a:ext uri="{FF2B5EF4-FFF2-40B4-BE49-F238E27FC236}">
                <a16:creationId xmlns:a16="http://schemas.microsoft.com/office/drawing/2014/main" id="{B0EF0E8E-F056-064E-9A2E-93D4FDDED67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8800" y="1188000"/>
            <a:ext cx="10515600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Regular 28 Pt.</a:t>
            </a:r>
          </a:p>
        </p:txBody>
      </p:sp>
      <p:sp>
        <p:nvSpPr>
          <p:cNvPr id="40" name="Textplatzhalter 20">
            <a:extLst>
              <a:ext uri="{FF2B5EF4-FFF2-40B4-BE49-F238E27FC236}">
                <a16:creationId xmlns:a16="http://schemas.microsoft.com/office/drawing/2014/main" id="{0ECE8AA7-941F-7D46-B628-34D6BA6F98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300" y="2160000"/>
            <a:ext cx="10515600" cy="41520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CH" sz="18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9924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51E4EAC9-D047-2C45-88F6-4ED6F50D1F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300" y="1187999"/>
            <a:ext cx="10515600" cy="51240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CH" sz="18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132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&amp; Untertitel &amp;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4F2A1D-4C21-B942-AAA1-DF7CE523D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9300" y="2182574"/>
            <a:ext cx="5181600" cy="4129448"/>
          </a:xfrm>
          <a:prstGeom prst="rect">
            <a:avLst/>
          </a:prstGeom>
        </p:spPr>
        <p:txBody>
          <a:bodyPr/>
          <a:lstStyle>
            <a:lvl1pPr>
              <a:defRPr sz="1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8158A02-13EF-E749-8A40-CB484D502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82575"/>
            <a:ext cx="5181600" cy="4129447"/>
          </a:xfrm>
          <a:prstGeom prst="rect">
            <a:avLst/>
          </a:prstGeom>
        </p:spPr>
        <p:txBody>
          <a:bodyPr/>
          <a:lstStyle>
            <a:lvl1pPr>
              <a:defRPr sz="1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9">
            <a:extLst>
              <a:ext uri="{FF2B5EF4-FFF2-40B4-BE49-F238E27FC236}">
                <a16:creationId xmlns:a16="http://schemas.microsoft.com/office/drawing/2014/main" id="{8FF5512A-ECEE-DC49-BF25-F69F7FBF58D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9300" y="1188000"/>
            <a:ext cx="10604500" cy="3918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Regular 28 Pt.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50BD2459-8B33-D14B-B83C-BA7C2DC35E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8800" y="1728000"/>
            <a:ext cx="10604500" cy="30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Untertitel </a:t>
            </a:r>
            <a:r>
              <a:rPr lang="de-DE" dirty="0" err="1"/>
              <a:t>Roboto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 20 Pt.</a:t>
            </a:r>
          </a:p>
        </p:txBody>
      </p:sp>
    </p:spTree>
    <p:extLst>
      <p:ext uri="{BB962C8B-B14F-4D97-AF65-F5344CB8AC3E}">
        <p14:creationId xmlns:p14="http://schemas.microsoft.com/office/powerpoint/2010/main" val="3142742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9">
            <a:extLst>
              <a:ext uri="{FF2B5EF4-FFF2-40B4-BE49-F238E27FC236}">
                <a16:creationId xmlns:a16="http://schemas.microsoft.com/office/drawing/2014/main" id="{FA0BFAAE-D7C8-684F-BC24-7E4A845F2D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9300" y="1188000"/>
            <a:ext cx="10515600" cy="4801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Regular 28 Pt.</a:t>
            </a:r>
          </a:p>
        </p:txBody>
      </p:sp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AFE4394A-6FF9-1B40-9F55-528FDB6EA7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300" y="1728000"/>
            <a:ext cx="10515600" cy="45840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CH" sz="20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298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7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nk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8EAB27-CF11-98E7-489A-3AACEDAF4E08}"/>
              </a:ext>
            </a:extLst>
          </p:cNvPr>
          <p:cNvSpPr txBox="1"/>
          <p:nvPr userDrawn="1"/>
        </p:nvSpPr>
        <p:spPr>
          <a:xfrm>
            <a:off x="748800" y="3502799"/>
            <a:ext cx="5677200" cy="182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8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Vielen Dank für Ihre Aufmerksamkeit</a:t>
            </a:r>
          </a:p>
        </p:txBody>
      </p:sp>
    </p:spTree>
    <p:extLst>
      <p:ext uri="{BB962C8B-B14F-4D97-AF65-F5344CB8AC3E}">
        <p14:creationId xmlns:p14="http://schemas.microsoft.com/office/powerpoint/2010/main" val="288363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7CFDC4-FA67-9A48-AFEA-5E7D410A4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35712A-9AAE-8749-AF55-CC983F60D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67726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5454D7-77B3-6C42-8AEB-91F70F505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077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3AE305-4E43-EC4E-BE6B-2200F7FD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116411EA-06D6-E041-9B0E-4331E45F507D}" type="datetime1">
              <a:rPr lang="de-CH" smtClean="0"/>
              <a:pPr/>
              <a:t>04.03.25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62A407-0734-2E42-A3E7-74C49C85F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2547C5-4A0C-E248-9949-6B294267A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785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5A4ED-0917-9D43-8A39-CC3D6F02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900EF6C-91BD-A045-9860-29149F712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0"/>
            <a:ext cx="6172200" cy="5686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DEF283-92D0-C24B-8AB2-2563D85B9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40859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139549-30B0-534A-A523-ADC5A049C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AAAB911A-49BF-3745-B3C5-482F56D23E2C}" type="datetime1">
              <a:rPr lang="de-CH" smtClean="0"/>
              <a:pPr/>
              <a:t>04.03.25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AA65C3-C5C8-554A-94A6-7E325B689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0CF6B6-588C-4E44-88B0-AC71937E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4892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5E1BDD-FBDE-3B40-B60B-F5D47B487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8992"/>
            <a:ext cx="10515600" cy="611696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A37FDC8-3A96-D649-86EF-9D9412966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17723"/>
          </a:xfrm>
          <a:prstGeom prst="rect">
            <a:avLst/>
          </a:prstGeom>
        </p:spPr>
        <p:txBody>
          <a:bodyPr vert="eaVert"/>
          <a:lstStyle>
            <a:lvl1pPr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2A71BE-6A5B-5F44-AC93-F6FEA16C7D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D4E0C52A-29C9-FF4F-9069-00A38FDE22D9}" type="datetime1">
              <a:rPr lang="de-CH" smtClean="0"/>
              <a:pPr/>
              <a:t>04.03.25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450247-9996-1F4C-B4F2-389301C8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524CD-CF85-454D-B4DE-762B8A6A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8542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834B5A7-7CA7-5B47-BB33-CA9E8FECC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04856"/>
          </a:xfrm>
          <a:prstGeom prst="rect">
            <a:avLst/>
          </a:prstGeom>
        </p:spPr>
        <p:txBody>
          <a:bodyPr vert="eaVert"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187E7AB-345F-314C-BA55-25801AC44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04856"/>
          </a:xfrm>
          <a:prstGeom prst="rect">
            <a:avLst/>
          </a:prstGeom>
        </p:spPr>
        <p:txBody>
          <a:bodyPr vert="eaVert"/>
          <a:lstStyle>
            <a:lvl1pPr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88388B-2A7D-6C48-A506-6F3B61FD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5F3772E1-035C-8C42-A85B-0BC63446A0F6}" type="datetime1">
              <a:rPr lang="de-CH" smtClean="0"/>
              <a:pPr/>
              <a:t>04.03.25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61AE90-9DBF-C343-A3DA-E2C39BDA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FF1546-4B4E-F349-8CAC-E3F211C2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182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3443CE-945E-AE4A-B31A-35F09132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74386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chemeClr val="tx1"/>
                </a:solidFill>
                <a:latin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25972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FA36828-6A4B-464C-9C67-068D09C44626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6400800" cy="1144988"/>
          </a:xfrm>
          <a:prstGeom prst="rect">
            <a:avLst/>
          </a:prstGeom>
          <a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noFill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A73E8C-FAD2-F1DC-8AEF-0CB4BA83A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800" y="21600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547534-BB19-ACB9-BF60-556E0ADC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1188000"/>
            <a:ext cx="10515600" cy="46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974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63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None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2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1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38B07D"/>
                </a:solidFill>
              </a:rPr>
              <a:t>XML statt PDF/DOCX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212121"/>
                </a:solidFill>
              </a:rPr>
              <a:t>Strukturierte Rechtsdokumente — ein Argumentarium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/>
            <a:r>
              <a:rPr sz="2000">
                <a:solidFill>
                  <a:srgbClr val="212121"/>
                </a:solidFill>
              </a:rPr>
              <a:t>Sinn und Zweck</a:t>
            </a:r>
          </a:p>
          <a:p>
            <a:pPr/>
            <a:r>
              <a:rPr sz="2000">
                <a:solidFill>
                  <a:srgbClr val="212121"/>
                </a:solidFill>
              </a:rPr>
              <a:t>Drei Formate auf einen Blick</a:t>
            </a:r>
          </a:p>
          <a:p>
            <a:pPr/>
            <a:r>
              <a:rPr sz="2000">
                <a:solidFill>
                  <a:srgbClr val="212121"/>
                </a:solidFill>
              </a:rPr>
              <a:t>Warum PDF und DOCX nicht reichen</a:t>
            </a:r>
          </a:p>
          <a:p>
            <a:pPr/>
            <a:r>
              <a:rPr sz="2000">
                <a:solidFill>
                  <a:srgbClr val="212121"/>
                </a:solidFill>
              </a:rPr>
              <a:t>Vorteile von Domänen-XML</a:t>
            </a:r>
          </a:p>
          <a:p>
            <a:pPr/>
            <a:r>
              <a:rPr sz="2000">
                <a:solidFill>
                  <a:srgbClr val="212121"/>
                </a:solidFill>
              </a:rPr>
              <a:t>Was XML nicht ist</a:t>
            </a:r>
          </a:p>
          <a:p>
            <a:pPr/>
            <a:r>
              <a:rPr sz="2000">
                <a:solidFill>
                  <a:srgbClr val="212121"/>
                </a:solidFill>
              </a:rPr>
              <a:t>Faustregel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 b="1">
                <a:solidFill>
                  <a:srgbClr val="38B07D"/>
                </a:solidFill>
              </a:rPr>
              <a:t>Sinn und Zweck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38B07D"/>
                </a:solidFill>
              </a:rPr>
              <a:t>Wozu strukturierte Rechtsdokumente?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/>
            <a:r>
              <a:rPr sz="1600">
                <a:solidFill>
                  <a:srgbClr val="212121"/>
                </a:solidFill>
              </a:rPr>
              <a:t>Rechtsschriften und Urteile bestehen mehrheitlich aus Text.</a:t>
            </a:r>
          </a:p>
          <a:p>
            <a:pPr/>
            <a:r>
              <a:rPr sz="1600">
                <a:solidFill>
                  <a:srgbClr val="212121"/>
                </a:solidFill>
              </a:rPr>
              <a:t>Im Verfahren wird wechselseitig Bezug genommen — auf inhaltlich verwandte Stellen.</a:t>
            </a:r>
          </a:p>
          <a:p>
            <a:pPr lvl="1"/>
            <a:r>
              <a:rPr sz="1400">
                <a:solidFill>
                  <a:srgbClr val="212121"/>
                </a:solidFill>
              </a:rPr>
              <a:t>Sachverhaltselemente korrespondieren mit Sachverhaltselementen,</a:t>
            </a:r>
          </a:p>
          <a:p>
            <a:pPr lvl="1"/>
            <a:r>
              <a:rPr sz="1400">
                <a:solidFill>
                  <a:srgbClr val="212121"/>
                </a:solidFill>
              </a:rPr>
              <a:t>rechtliche Argumente werden gegen rechtliche Argumente erwidert.</a:t>
            </a:r>
          </a:p>
          <a:p>
            <a:pPr/>
            <a:r>
              <a:rPr sz="1600">
                <a:solidFill>
                  <a:srgbClr val="212121"/>
                </a:solidFill>
              </a:rPr>
              <a:t>Strukturierte Daten machen diese Bezüge maschinell nachvollziehbar.</a:t>
            </a:r>
          </a:p>
          <a:p>
            <a:pPr/>
            <a:r>
              <a:rPr sz="1600">
                <a:solidFill>
                  <a:srgbClr val="212121"/>
                </a:solidFill>
              </a:rPr>
              <a:t>Strukturierung bewusst minimal — gerade so präzise wie nötig.</a:t>
            </a:r>
          </a:p>
          <a:p>
            <a:pPr/>
            <a:r>
              <a:rPr sz="1600">
                <a:solidFill>
                  <a:srgbClr val="212121"/>
                </a:solidFill>
              </a:rPr>
              <a:t>Externe Ressourcen (Beweismittel, Akten) ebenfalls strukturiert verweisbar.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38B07D"/>
                </a:solidFill>
              </a:rPr>
              <a:t>Drei Formate auf einen 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620000"/>
          <a:ext cx="792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980000"/>
                <a:gridCol w="1980000"/>
                <a:gridCol w="1980000"/>
              </a:tblGrid>
              <a:tr h="56571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38B0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PDF</a:t>
                      </a:r>
                    </a:p>
                  </a:txBody>
                  <a:tcPr>
                    <a:solidFill>
                      <a:srgbClr val="38B0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DOCX</a:t>
                      </a:r>
                    </a:p>
                  </a:txBody>
                  <a:tcPr>
                    <a:solidFill>
                      <a:srgbClr val="38B0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Domänen-XML</a:t>
                      </a:r>
                    </a:p>
                  </a:txBody>
                  <a:tcPr>
                    <a:solidFill>
                      <a:srgbClr val="38B07D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Modelliert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Pixel / Glyphen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Textverarbeitung (XML)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Juristische Inhalte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Schema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OOXML (Layout)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Eigen (Erwägung, …)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Validierbar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Layout-Struktur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Pflichtfelder, Formate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Maschinell auswertbar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Nur über OCR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Über Stilvorlagen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Direkt, eindeutig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Versionssichtbar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Nein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Binär (ZIP)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Zeile für Zeile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57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Langzeitlesbar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Versionsabhängig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OOXML offen, breit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Offen, schmal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38B07D"/>
                </a:solidFill>
              </a:rPr>
              <a:t>Warum PDF und DOCX nicht reichen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38B07D"/>
                </a:solidFill>
              </a:rPr>
              <a:t>PDF — Layout statt Inhalt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/>
            <a:r>
              <a:rPr sz="1800">
                <a:solidFill>
                  <a:srgbClr val="212121"/>
                </a:solidFill>
              </a:rPr>
              <a:t>Sandwich-PDFs: Bild + OCR-Textschicht — Diskrepanzen unbemerkt.</a:t>
            </a:r>
          </a:p>
          <a:p>
            <a:pPr/>
            <a:r>
              <a:rPr sz="1800">
                <a:solidFill>
                  <a:srgbClr val="212121"/>
                </a:solidFill>
              </a:rPr>
              <a:t>Glyphen statt Bedeutung: «Erwägung Nr. 3» nur visuell erkennbar.</a:t>
            </a:r>
          </a:p>
          <a:p>
            <a:pPr/>
            <a:r>
              <a:rPr sz="1800">
                <a:solidFill>
                  <a:srgbClr val="212121"/>
                </a:solidFill>
              </a:rPr>
              <a:t>Spezifikations-Unschärfe: dieselbe Information vielfältig darstellbar.</a:t>
            </a:r>
          </a:p>
          <a:p>
            <a:pPr/>
            <a:r>
              <a:rPr sz="1800">
                <a:solidFill>
                  <a:srgbClr val="212121"/>
                </a:solidFill>
              </a:rPr>
              <a:t>Inhaltliche Validierung nicht vorgesehen.</a:t>
            </a:r>
          </a:p>
          <a:p>
            <a:pPr/>
            <a:r>
              <a:rPr sz="1800">
                <a:solidFill>
                  <a:srgbClr val="212121"/>
                </a:solidFill>
              </a:rPr>
              <a:t>Hoher Metadaten-Anteil (Schriftarten, Sicherheit, Rendering).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38B07D"/>
                </a:solidFill>
              </a:rPr>
              <a:t>DOCX — XML, aber das falsche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/>
            <a:r>
              <a:rPr sz="1800">
                <a:solidFill>
                  <a:srgbClr val="212121"/>
                </a:solidFill>
              </a:rPr>
              <a:t>DOCX ist intern XML (Office Open XML, ZIP-Container).</a:t>
            </a:r>
          </a:p>
          <a:p>
            <a:pPr/>
            <a:r>
              <a:rPr sz="1800">
                <a:solidFill>
                  <a:srgbClr val="212121"/>
                </a:solidFill>
              </a:rPr>
              <a:t>Aber: generisches Textverarbeitungs-Modell — kein Domänen-Modell.</a:t>
            </a:r>
          </a:p>
          <a:p>
            <a:pPr lvl="1"/>
            <a:r>
              <a:rPr sz="1600">
                <a:solidFill>
                  <a:srgbClr val="212121"/>
                </a:solidFill>
              </a:rPr>
              <a:t>Konzepte: Absatz, Stilvorlage, Tabelle.</a:t>
            </a:r>
          </a:p>
          <a:p>
            <a:pPr lvl="1"/>
            <a:r>
              <a:rPr sz="1600">
                <a:solidFill>
                  <a:srgbClr val="212121"/>
                </a:solidFill>
              </a:rPr>
              <a:t>Nicht: Erwägung, Geschäftsnummer, Rechtsbegehren.</a:t>
            </a:r>
          </a:p>
          <a:p>
            <a:pPr/>
            <a:r>
              <a:rPr sz="1800">
                <a:solidFill>
                  <a:srgbClr val="212121"/>
                </a:solidFill>
              </a:rPr>
              <a:t>OOXML validiert die Layout-Struktur, nicht den juristischen Inhalt.</a:t>
            </a:r>
          </a:p>
          <a:p>
            <a:pPr/>
            <a:r>
              <a:rPr sz="1800">
                <a:solidFill>
                  <a:srgbClr val="212121"/>
                </a:solidFill>
              </a:rPr>
              <a:t>ZIP-Container — nicht direkt diff-bar in Versionskontrolle.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38B07D"/>
                </a:solidFill>
              </a:rPr>
              <a:t>Vorteile von Domänen-XML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38B07D"/>
                </a:solidFill>
              </a:rPr>
              <a:t>Sieben operative Vorteile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/>
            <a:r>
              <a:rPr sz="1600">
                <a:solidFill>
                  <a:srgbClr val="212121"/>
                </a:solidFill>
              </a:rPr>
              <a:t>Maschinell auswertbar ohne Heuristik (XPath statt OCR-Regex).</a:t>
            </a:r>
          </a:p>
          <a:p>
            <a:pPr/>
            <a:r>
              <a:rPr sz="1600">
                <a:solidFill>
                  <a:srgbClr val="212121"/>
                </a:solidFill>
              </a:rPr>
              <a:t>Verlustfreie Beziehungen (Vorinstanz, Weiterzug, Zitate).</a:t>
            </a:r>
          </a:p>
          <a:p>
            <a:pPr/>
            <a:r>
              <a:rPr sz="1600">
                <a:solidFill>
                  <a:srgbClr val="212121"/>
                </a:solidFill>
              </a:rPr>
              <a:t>Validierung vor dem Versand (Pflichtfelder, Geschäftsnummer-Format).</a:t>
            </a:r>
          </a:p>
          <a:p>
            <a:pPr/>
            <a:r>
              <a:rPr sz="1600">
                <a:solidFill>
                  <a:srgbClr val="212121"/>
                </a:solidFill>
              </a:rPr>
              <a:t>Mehrere Darstellungen aus einer Quelle (PDF, HTML, JSON, TXT).</a:t>
            </a:r>
          </a:p>
          <a:p>
            <a:pPr/>
            <a:r>
              <a:rPr sz="1600">
                <a:solidFill>
                  <a:srgbClr val="212121"/>
                </a:solidFill>
              </a:rPr>
              <a:t>Versionierung mit Diff-Sinn — inhaltliche Änderungen sichtbar.</a:t>
            </a:r>
          </a:p>
          <a:p>
            <a:pPr/>
            <a:r>
              <a:rPr sz="1600">
                <a:solidFill>
                  <a:srgbClr val="212121"/>
                </a:solidFill>
              </a:rPr>
              <a:t>Anonymisierung als Datenfeld (steuerbar, maschinell prüfbar).</a:t>
            </a:r>
          </a:p>
          <a:p>
            <a:pPr/>
            <a:r>
              <a:rPr sz="1600">
                <a:solidFill>
                  <a:srgbClr val="212121"/>
                </a:solidFill>
              </a:rPr>
              <a:t>Stabile Anker für Querverweise (überleben Textänderungen).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38B07D"/>
                </a:solidFill>
              </a:rPr>
              <a:t>Strategischer Mehrwert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/>
            <a:r>
              <a:rPr sz="1800">
                <a:solidFill>
                  <a:srgbClr val="212121"/>
                </a:solidFill>
              </a:rPr>
              <a:t>Statistische Auswertbarkeit über Korpora.</a:t>
            </a:r>
          </a:p>
          <a:p>
            <a:pPr/>
            <a:r>
              <a:rPr sz="1800">
                <a:solidFill>
                  <a:srgbClr val="212121"/>
                </a:solidFill>
              </a:rPr>
              <a:t>KI-Tauglichkeit (hochwertige Trainingsgrundlage).</a:t>
            </a:r>
          </a:p>
          <a:p>
            <a:pPr/>
            <a:r>
              <a:rPr sz="1800">
                <a:solidFill>
                  <a:srgbClr val="212121"/>
                </a:solidFill>
              </a:rPr>
              <a:t>Anschluss an eJustiz-Standards (Akoma Ntoso, Justitia 4.0).</a:t>
            </a:r>
          </a:p>
          <a:p>
            <a:pPr/>
            <a:r>
              <a:rPr sz="1800">
                <a:solidFill>
                  <a:srgbClr val="212121"/>
                </a:solidFill>
              </a:rPr>
              <a:t>Langzeitarchivierung — offen, herstellerunabhängig.</a:t>
            </a:r>
          </a:p>
          <a:p>
            <a:pPr/>
            <a:r>
              <a:rPr sz="1800">
                <a:solidFill>
                  <a:srgbClr val="212121"/>
                </a:solidFill>
              </a:rPr>
              <a:t>Kanzleiweite Konsistenz durch erzwungene Pflichtfelder.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38B07D"/>
                </a:solidFill>
              </a:rPr>
              <a:t>Was XML nicht 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/>
            <a:r>
              <a:rPr sz="1800">
                <a:solidFill>
                  <a:srgbClr val="212121"/>
                </a:solidFill>
              </a:rPr>
              <a:t>Kein Lesedokument — braucht Viewer oder generierte Ansicht.</a:t>
            </a:r>
          </a:p>
          <a:p>
            <a:pPr/>
            <a:r>
              <a:rPr sz="1800">
                <a:solidFill>
                  <a:srgbClr val="212121"/>
                </a:solidFill>
              </a:rPr>
              <a:t>Kein Schreibwerkzeug — Editor erzeugt XML im Hintergrund.</a:t>
            </a:r>
          </a:p>
          <a:p>
            <a:pPr/>
            <a:r>
              <a:rPr sz="1800">
                <a:solidFill>
                  <a:srgbClr val="212121"/>
                </a:solidFill>
              </a:rPr>
              <a:t>Kein Layout-Format — PDF wird weiter gebraucht, aber generiert aus XML.</a:t>
            </a:r>
          </a:p>
          <a:p>
            <a:pPr/>
            <a:r>
              <a:rPr sz="1800">
                <a:solidFill>
                  <a:srgbClr val="212121"/>
                </a:solidFill>
              </a:rPr>
              <a:t>Kein Allheilmittel für bildhafte Beilagen (Pläne, Fotos, Gutachten).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38B07D"/>
                </a:solidFill>
              </a:rPr>
              <a:t>XML als Quellformat,</a:t>
            </a:r>
          </a:p>
          <a:p>
            <a:pPr algn="ctr"/>
            <a:r>
              <a:rPr sz="3600" b="1">
                <a:solidFill>
                  <a:srgbClr val="38B07D"/>
                </a:solidFill>
              </a:rPr>
              <a:t>PDF und DOCX als Ausgabeformate.</a:t>
            </a:r>
          </a:p>
          <a:p>
            <a:pPr algn="ctr"/>
            <a:r>
              <a:rPr sz="800"/>
              <a:t/>
            </a:r>
          </a:p>
          <a:p>
            <a:pPr algn="ctr"/>
            <a:r>
              <a:rPr sz="1800">
                <a:solidFill>
                  <a:srgbClr val="555555"/>
                </a:solidFill>
              </a:rPr>
              <a:t>Strukturierte Daten für maschinelle Anwendungsfälle, gewohntes Layout für die Akte.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eJustice">
      <a:dk1>
        <a:srgbClr val="212121"/>
      </a:dk1>
      <a:lt1>
        <a:srgbClr val="FFFFFF"/>
      </a:lt1>
      <a:dk2>
        <a:srgbClr val="38B07D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LegalLab PowerPoint" id="{4694400B-0C6C-F445-AFD6-252A0F901D5A}" vid="{81353AE6-8B9B-904A-8008-B2255B23A58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Roboto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Beuggert Viviane BJ</dc:creator>
  <cp:lastModifiedBy>Beuggert Bastian</cp:lastModifiedBy>
  <cp:revision>19</cp:revision>
  <dcterms:created xsi:type="dcterms:W3CDTF">2025-02-17T18:39:28Z</dcterms:created>
  <dcterms:modified xsi:type="dcterms:W3CDTF">2025-03-04T15:37:58Z</dcterms:modified>
</cp:coreProperties>
</file>