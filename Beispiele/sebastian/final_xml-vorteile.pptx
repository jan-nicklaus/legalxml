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57" r:id="rId3"/>
    <p:sldId id="258" r:id="rId4"/>
    <p:sldId id="259" r:id="rId5"/>
    <p:sldId id="262" r:id="rId6"/>
    <p:sldId id="261" r:id="rId7"/>
  </p:sldIdLst>
  <p:sldSz cx="12192000" cy="6858000"/>
  <p:notesSz cx="9144000" cy="6858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363C"/>
    <a:srgbClr val="323433"/>
    <a:srgbClr val="3335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68" autoAdjust="0"/>
    <p:restoredTop sz="86345"/>
  </p:normalViewPr>
  <p:slideViewPr>
    <p:cSldViewPr snapToGrid="0" snapToObjects="1">
      <p:cViewPr varScale="1">
        <p:scale>
          <a:sx n="79" d="100"/>
          <a:sy n="79" d="100"/>
        </p:scale>
        <p:origin x="624" y="7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204" d="100"/>
          <a:sy n="204" d="100"/>
        </p:scale>
        <p:origin x="456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ray Soguksu" userId="3e220d5204457e8d" providerId="LiveId" clId="{AE6BC8F6-E0CC-4B92-83ED-344A53F02923}"/>
    <pc:docChg chg="modSld">
      <pc:chgData name="Koray Soguksu" userId="3e220d5204457e8d" providerId="LiveId" clId="{AE6BC8F6-E0CC-4B92-83ED-344A53F02923}" dt="2026-04-27T08:34:16.663" v="14" actId="20577"/>
      <pc:docMkLst>
        <pc:docMk/>
      </pc:docMkLst>
      <pc:sldChg chg="modSp mod">
        <pc:chgData name="Koray Soguksu" userId="3e220d5204457e8d" providerId="LiveId" clId="{AE6BC8F6-E0CC-4B92-83ED-344A53F02923}" dt="2026-04-27T08:34:16.663" v="14" actId="20577"/>
        <pc:sldMkLst>
          <pc:docMk/>
          <pc:sldMk cId="0" sldId="256"/>
        </pc:sldMkLst>
        <pc:spChg chg="mod">
          <ac:chgData name="Koray Soguksu" userId="3e220d5204457e8d" providerId="LiveId" clId="{AE6BC8F6-E0CC-4B92-83ED-344A53F02923}" dt="2026-04-27T08:34:16.663" v="14" actId="20577"/>
          <ac:spMkLst>
            <pc:docMk/>
            <pc:sldMk cId="0" sldId="256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5CCE98-7A8A-1F4E-8E01-D347D6ECE88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8" name="Kopfzeilenplatzhalter 7">
            <a:extLst>
              <a:ext uri="{FF2B5EF4-FFF2-40B4-BE49-F238E27FC236}">
                <a16:creationId xmlns:a16="http://schemas.microsoft.com/office/drawing/2014/main" id="{192C273B-FEF6-AE4D-B09E-85F88B929E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BEAF9C09-C07A-1D43-937D-EA0F3D4E24E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06680" y="-545306"/>
            <a:ext cx="7556500" cy="14351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3E4462FD-D5B8-3943-AFC9-E7EA2763D35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83488" y="6399148"/>
            <a:ext cx="7556500" cy="69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336384"/>
      </p:ext>
    </p:extLst>
  </p:cSld>
  <p:clrMap bg1="lt1" tx1="dk1" bg2="lt2" tx2="dk2" accent1="accent1" accent2="accent2" accent3="accent3" accent4="accent4" accent5="accent5" accent6="accent6" hlink="hlink" folHlink="folHlink"/>
  <p:hf sldNum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de-DE"/>
              <a:t>Test Header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7801E-AADA-1C49-8F7E-9C272F90AE96}" type="datetimeFigureOut">
              <a:rPr lang="de-DE" smtClean="0"/>
              <a:t>27.04.2026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de-DE"/>
              <a:t>Mastertextformat bearbeiten
Zweite Ebene
Dritte Ebene
Vierte Ebene
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Footer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75377-55E4-144D-8DDF-2D01BB12557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8858019"/>
      </p:ext>
    </p:extLst>
  </p:cSld>
  <p:clrMap bg1="lt1" tx1="dk1" bg2="lt2" tx2="dk2" accent1="accent1" accent2="accent2" accent3="accent3" accent4="accent4" accent5="accent5" accent6="accent6" hlink="hlink" folHlink="folHlink"/>
  <p:hf sldNum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Kopfzeilenplatzhalt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de-DE"/>
              <a:t>Test Header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6425322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20">
            <a:extLst>
              <a:ext uri="{FF2B5EF4-FFF2-40B4-BE49-F238E27FC236}">
                <a16:creationId xmlns:a16="http://schemas.microsoft.com/office/drawing/2014/main" id="{176D0281-EE42-9C40-8817-A208A04239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48800" y="2409660"/>
            <a:ext cx="10515600" cy="8185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8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Titel </a:t>
            </a:r>
            <a:r>
              <a:rPr lang="de-DE" dirty="0" err="1"/>
              <a:t>Roboto</a:t>
            </a:r>
            <a:r>
              <a:rPr lang="de-DE" dirty="0"/>
              <a:t> </a:t>
            </a:r>
            <a:r>
              <a:rPr lang="de-DE" dirty="0" err="1"/>
              <a:t>Bold</a:t>
            </a:r>
            <a:r>
              <a:rPr lang="de-DE" dirty="0"/>
              <a:t> 48 Pt.</a:t>
            </a:r>
          </a:p>
        </p:txBody>
      </p:sp>
      <p:sp>
        <p:nvSpPr>
          <p:cNvPr id="7" name="Textplatzhalter 20">
            <a:extLst>
              <a:ext uri="{FF2B5EF4-FFF2-40B4-BE49-F238E27FC236}">
                <a16:creationId xmlns:a16="http://schemas.microsoft.com/office/drawing/2014/main" id="{A6C1E5B0-F333-2142-BEF9-1285544F61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8800" y="3501652"/>
            <a:ext cx="10515600" cy="2136237"/>
          </a:xfrm>
          <a:prstGeom prst="rect">
            <a:avLst/>
          </a:prstGeom>
        </p:spPr>
        <p:txBody>
          <a:bodyPr wrap="square" tIns="90000" rIns="90000"/>
          <a:lstStyle>
            <a:lvl1pPr marL="0" indent="0">
              <a:buNone/>
              <a:defRPr lang="de-CH" sz="1800" b="0" i="0" u="none" strike="noStrike" smtClean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add</a:t>
            </a:r>
            <a:r>
              <a:rPr lang="de-DE" dirty="0"/>
              <a:t> Text</a:t>
            </a:r>
          </a:p>
        </p:txBody>
      </p:sp>
    </p:spTree>
    <p:extLst>
      <p:ext uri="{BB962C8B-B14F-4D97-AF65-F5344CB8AC3E}">
        <p14:creationId xmlns:p14="http://schemas.microsoft.com/office/powerpoint/2010/main" val="26857141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nitts-&#10;überschrif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07D2D-94E5-5F27-C675-173A8B03C3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0799" y="3502800"/>
            <a:ext cx="5677951" cy="1824574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en-GB" dirty="0"/>
              <a:t>Click to add new Section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04731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0">
            <a:extLst>
              <a:ext uri="{FF2B5EF4-FFF2-40B4-BE49-F238E27FC236}">
                <a16:creationId xmlns:a16="http://schemas.microsoft.com/office/drawing/2014/main" id="{A22BD047-8E4C-527D-CCDC-BA7972E460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25209" y="1406536"/>
            <a:ext cx="8039191" cy="4962193"/>
          </a:xfrm>
          <a:prstGeom prst="rect">
            <a:avLst/>
          </a:prstGeom>
        </p:spPr>
        <p:txBody>
          <a:bodyPr/>
          <a:lstStyle>
            <a:lvl1pPr marL="285750" indent="-285750">
              <a:buFont typeface="Wingdings" pitchFamily="2" charset="2"/>
              <a:buChar char="§"/>
              <a:defRPr lang="de-CH" sz="2000" b="0" i="0" u="none" strike="noStrike" smtClean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add</a:t>
            </a:r>
            <a:r>
              <a:rPr lang="de-DE" dirty="0"/>
              <a:t> Text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CBEB1F-01F7-DDEA-4A4A-950B466AED68}"/>
              </a:ext>
            </a:extLst>
          </p:cNvPr>
          <p:cNvSpPr txBox="1"/>
          <p:nvPr userDrawn="1"/>
        </p:nvSpPr>
        <p:spPr>
          <a:xfrm>
            <a:off x="748800" y="1275659"/>
            <a:ext cx="21772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2800" b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03531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&amp; Untertitel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17EBB82C-3E8A-1C48-925C-B76443032B9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49300" y="1728000"/>
            <a:ext cx="10515600" cy="3063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Untertitel </a:t>
            </a:r>
            <a:r>
              <a:rPr lang="de-DE" dirty="0" err="1"/>
              <a:t>Roboto</a:t>
            </a:r>
            <a:r>
              <a:rPr lang="de-DE" dirty="0"/>
              <a:t> Regular 20 Pt.</a:t>
            </a:r>
          </a:p>
        </p:txBody>
      </p:sp>
      <p:sp>
        <p:nvSpPr>
          <p:cNvPr id="30" name="Inhaltsplatzhalter 29">
            <a:extLst>
              <a:ext uri="{FF2B5EF4-FFF2-40B4-BE49-F238E27FC236}">
                <a16:creationId xmlns:a16="http://schemas.microsoft.com/office/drawing/2014/main" id="{B0EF0E8E-F056-064E-9A2E-93D4FDDED67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48800" y="1188000"/>
            <a:ext cx="10515600" cy="46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800" b="0" i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Titel </a:t>
            </a:r>
            <a:r>
              <a:rPr lang="de-DE" dirty="0" err="1"/>
              <a:t>Roboto</a:t>
            </a:r>
            <a:r>
              <a:rPr lang="de-DE" dirty="0"/>
              <a:t> Regular 28 Pt.</a:t>
            </a:r>
          </a:p>
        </p:txBody>
      </p:sp>
      <p:sp>
        <p:nvSpPr>
          <p:cNvPr id="40" name="Textplatzhalter 20">
            <a:extLst>
              <a:ext uri="{FF2B5EF4-FFF2-40B4-BE49-F238E27FC236}">
                <a16:creationId xmlns:a16="http://schemas.microsoft.com/office/drawing/2014/main" id="{0ECE8AA7-941F-7D46-B628-34D6BA6F98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9300" y="2160000"/>
            <a:ext cx="10515600" cy="41520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de-CH" sz="1800" b="0" i="0" u="none" strike="noStrike" smtClean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 err="1"/>
              <a:t>Fliesstext</a:t>
            </a:r>
            <a:r>
              <a:rPr lang="de-DE" dirty="0"/>
              <a:t> </a:t>
            </a:r>
            <a:r>
              <a:rPr lang="de-DE" dirty="0" err="1"/>
              <a:t>Roboto</a:t>
            </a:r>
            <a:r>
              <a:rPr lang="de-DE" dirty="0"/>
              <a:t> Regular 18 Pt. - </a:t>
            </a:r>
            <a:r>
              <a:rPr lang="en-GB" dirty="0"/>
              <a:t>Click to add Text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59924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20">
            <a:extLst>
              <a:ext uri="{FF2B5EF4-FFF2-40B4-BE49-F238E27FC236}">
                <a16:creationId xmlns:a16="http://schemas.microsoft.com/office/drawing/2014/main" id="{51E4EAC9-D047-2C45-88F6-4ED6F50D1FB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9300" y="1187999"/>
            <a:ext cx="10515600" cy="51240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de-CH" sz="1800" b="0" i="0" u="none" strike="noStrike" smtClean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 err="1"/>
              <a:t>Fliesstext</a:t>
            </a:r>
            <a:r>
              <a:rPr lang="de-DE" dirty="0"/>
              <a:t> </a:t>
            </a:r>
            <a:r>
              <a:rPr lang="de-DE" dirty="0" err="1"/>
              <a:t>Roboto</a:t>
            </a:r>
            <a:r>
              <a:rPr lang="de-DE" dirty="0"/>
              <a:t> Regular 18 Pt. - </a:t>
            </a:r>
            <a:r>
              <a:rPr lang="en-GB" dirty="0"/>
              <a:t>Click to add Text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1327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&amp; Untertitel &amp;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F2A1D-4C21-B942-AAA1-DF7CE523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49300" y="2182574"/>
            <a:ext cx="5181600" cy="4129448"/>
          </a:xfrm>
          <a:prstGeom prst="rect">
            <a:avLst/>
          </a:prstGeom>
        </p:spPr>
        <p:txBody>
          <a:bodyPr/>
          <a:lstStyle>
            <a:lvl1pPr>
              <a:defRPr sz="1800" b="0" i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8158A02-13EF-E749-8A40-CB484D502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82575"/>
            <a:ext cx="5181600" cy="4129447"/>
          </a:xfrm>
          <a:prstGeom prst="rect">
            <a:avLst/>
          </a:prstGeom>
        </p:spPr>
        <p:txBody>
          <a:bodyPr/>
          <a:lstStyle>
            <a:lvl1pPr>
              <a:defRPr sz="1800" b="0" i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Inhaltsplatzhalter 29">
            <a:extLst>
              <a:ext uri="{FF2B5EF4-FFF2-40B4-BE49-F238E27FC236}">
                <a16:creationId xmlns:a16="http://schemas.microsoft.com/office/drawing/2014/main" id="{8FF5512A-ECEE-DC49-BF25-F69F7FBF58D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49300" y="1188000"/>
            <a:ext cx="10604500" cy="39181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800" b="0" i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Titel </a:t>
            </a:r>
            <a:r>
              <a:rPr lang="de-DE" dirty="0" err="1"/>
              <a:t>Roboto</a:t>
            </a:r>
            <a:r>
              <a:rPr lang="de-DE" dirty="0"/>
              <a:t> Regular 28 Pt.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50BD2459-8B33-D14B-B83C-BA7C2DC35E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48800" y="1728000"/>
            <a:ext cx="10604500" cy="306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Untertitel </a:t>
            </a:r>
            <a:r>
              <a:rPr lang="de-DE" dirty="0" err="1"/>
              <a:t>Roboto</a:t>
            </a:r>
            <a:r>
              <a:rPr lang="de-DE" dirty="0"/>
              <a:t> </a:t>
            </a:r>
            <a:r>
              <a:rPr lang="de-DE" dirty="0" err="1"/>
              <a:t>Bold</a:t>
            </a:r>
            <a:r>
              <a:rPr lang="de-DE" dirty="0"/>
              <a:t> 20 Pt.</a:t>
            </a:r>
          </a:p>
        </p:txBody>
      </p:sp>
    </p:spTree>
    <p:extLst>
      <p:ext uri="{BB962C8B-B14F-4D97-AF65-F5344CB8AC3E}">
        <p14:creationId xmlns:p14="http://schemas.microsoft.com/office/powerpoint/2010/main" val="3142742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nhaltsplatzhalter 29">
            <a:extLst>
              <a:ext uri="{FF2B5EF4-FFF2-40B4-BE49-F238E27FC236}">
                <a16:creationId xmlns:a16="http://schemas.microsoft.com/office/drawing/2014/main" id="{FA0BFAAE-D7C8-684F-BC24-7E4A845F2DB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49300" y="1188000"/>
            <a:ext cx="10515600" cy="48010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800" b="0" i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Titel </a:t>
            </a:r>
            <a:r>
              <a:rPr lang="de-DE" dirty="0" err="1"/>
              <a:t>Roboto</a:t>
            </a:r>
            <a:r>
              <a:rPr lang="de-DE" dirty="0"/>
              <a:t> Regular 28 Pt.</a:t>
            </a:r>
          </a:p>
        </p:txBody>
      </p:sp>
      <p:sp>
        <p:nvSpPr>
          <p:cNvPr id="12" name="Textplatzhalter 20">
            <a:extLst>
              <a:ext uri="{FF2B5EF4-FFF2-40B4-BE49-F238E27FC236}">
                <a16:creationId xmlns:a16="http://schemas.microsoft.com/office/drawing/2014/main" id="{AFE4394A-6FF9-1B40-9F55-528FDB6EA7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9300" y="1728000"/>
            <a:ext cx="10515600" cy="45840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de-CH" sz="2000" b="0" i="0" u="none" strike="noStrike" smtClean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 err="1"/>
              <a:t>Fliesstext</a:t>
            </a:r>
            <a:r>
              <a:rPr lang="de-DE" dirty="0"/>
              <a:t> </a:t>
            </a:r>
            <a:r>
              <a:rPr lang="de-DE" dirty="0" err="1"/>
              <a:t>Roboto</a:t>
            </a:r>
            <a:r>
              <a:rPr lang="de-DE" dirty="0"/>
              <a:t> Regular 18 Pt. - </a:t>
            </a:r>
            <a:r>
              <a:rPr lang="en-GB" dirty="0"/>
              <a:t>Click to add Text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3298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674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ank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8EAB27-CF11-98E7-489A-3AACEDAF4E08}"/>
              </a:ext>
            </a:extLst>
          </p:cNvPr>
          <p:cNvSpPr txBox="1"/>
          <p:nvPr userDrawn="1"/>
        </p:nvSpPr>
        <p:spPr>
          <a:xfrm>
            <a:off x="748800" y="3502799"/>
            <a:ext cx="5677200" cy="1825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2800" b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Vielen Dank für Ihre Aufmerksamkeit</a:t>
            </a:r>
          </a:p>
        </p:txBody>
      </p:sp>
    </p:spTree>
    <p:extLst>
      <p:ext uri="{BB962C8B-B14F-4D97-AF65-F5344CB8AC3E}">
        <p14:creationId xmlns:p14="http://schemas.microsoft.com/office/powerpoint/2010/main" val="2883637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7CFDC4-FA67-9A48-AFEA-5E7D410A4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2800" b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35712A-9AAE-8749-AF55-CC983F60DD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677269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15454D7-77B3-6C42-8AEB-91F70F5051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40770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F3AE305-4E43-EC4E-BE6B-2200F7FD52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116411EA-06D6-E041-9B0E-4331E45F507D}" type="datetime1">
              <a:rPr lang="de-CH" smtClean="0"/>
              <a:pPr/>
              <a:t>27.04.2026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62A407-0734-2E42-A3E7-74C49C85F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C2547C5-4A0C-E248-9949-6B294267A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F8E137B8-4BA6-5147-B42F-92EB67E48008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7853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D5A4ED-0917-9D43-8A39-CC3D6F022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2800" b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900EF6C-91BD-A045-9860-29149F7123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0"/>
            <a:ext cx="6172200" cy="56861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ADEF283-92D0-C24B-8AB2-2563D85B98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399"/>
            <a:ext cx="3932237" cy="40859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7139549-30B0-534A-A523-ADC5A049C7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AAAB911A-49BF-3745-B3C5-482F56D23E2C}" type="datetime1">
              <a:rPr lang="de-CH" smtClean="0"/>
              <a:pPr/>
              <a:t>27.04.2026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0AA65C3-C5C8-554A-94A6-7E325B689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80CF6B6-588C-4E44-88B0-AC71937E6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F8E137B8-4BA6-5147-B42F-92EB67E48008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48927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E1BDD-FBDE-3B40-B60B-F5D47B487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78992"/>
            <a:ext cx="10515600" cy="611696"/>
          </a:xfrm>
          <a:prstGeom prst="rect">
            <a:avLst/>
          </a:prstGeom>
        </p:spPr>
        <p:txBody>
          <a:bodyPr/>
          <a:lstStyle>
            <a:lvl1pPr>
              <a:defRPr sz="2800" b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A37FDC8-3A96-D649-86EF-9D94129665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17723"/>
          </a:xfrm>
          <a:prstGeom prst="rect">
            <a:avLst/>
          </a:prstGeom>
        </p:spPr>
        <p:txBody>
          <a:bodyPr vert="eaVert"/>
          <a:lstStyle>
            <a:lvl1pPr>
              <a:defRPr sz="18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2A71BE-6A5B-5F44-AC93-F6FEA16C7D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D4E0C52A-29C9-FF4F-9069-00A38FDE22D9}" type="datetime1">
              <a:rPr lang="de-CH" smtClean="0"/>
              <a:pPr/>
              <a:t>27.04.2026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C450247-9996-1F4C-B4F2-389301C87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17524CD-CF85-454D-B4DE-762B8A6A1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F8E137B8-4BA6-5147-B42F-92EB67E48008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185424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834B5A7-7CA7-5B47-BB33-CA9E8FECC9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04856"/>
          </a:xfrm>
          <a:prstGeom prst="rect">
            <a:avLst/>
          </a:prstGeom>
        </p:spPr>
        <p:txBody>
          <a:bodyPr vert="eaVert"/>
          <a:lstStyle>
            <a:lvl1pPr>
              <a:defRPr sz="2800" b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187E7AB-345F-314C-BA55-25801AC44C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04856"/>
          </a:xfrm>
          <a:prstGeom prst="rect">
            <a:avLst/>
          </a:prstGeom>
        </p:spPr>
        <p:txBody>
          <a:bodyPr vert="eaVert"/>
          <a:lstStyle>
            <a:lvl1pPr>
              <a:defRPr sz="18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88388B-2A7D-6C48-A506-6F3B61FD11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5F3772E1-035C-8C42-A85B-0BC63446A0F6}" type="datetime1">
              <a:rPr lang="de-CH" smtClean="0"/>
              <a:pPr/>
              <a:t>27.04.2026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061AE90-9DBF-C343-A3DA-E2C39BDA8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FF1546-4B4E-F349-8CAC-E3F211C2D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F8E137B8-4BA6-5147-B42F-92EB67E48008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18296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3443CE-945E-AE4A-B31A-35F09132F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743868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3800" b="1" i="0" baseline="0">
                <a:solidFill>
                  <a:schemeClr val="tx1"/>
                </a:solidFill>
                <a:latin typeface="Roboto" panose="02000000000000000000" pitchFamily="2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42597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FA36828-6A4B-464C-9C67-068D09C44626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6400800" cy="1144988"/>
          </a:xfrm>
          <a:prstGeom prst="rect">
            <a:avLst/>
          </a:prstGeom>
          <a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noFill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A73E8C-FAD2-F1DC-8AEF-0CB4BA83A2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8800" y="216000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de-DE" dirty="0" err="1"/>
              <a:t>Fliesstext</a:t>
            </a:r>
            <a:r>
              <a:rPr lang="de-DE" dirty="0"/>
              <a:t> </a:t>
            </a:r>
            <a:r>
              <a:rPr lang="de-DE" dirty="0" err="1"/>
              <a:t>Roboto</a:t>
            </a:r>
            <a:r>
              <a:rPr lang="de-DE" dirty="0"/>
              <a:t> Regular 18 Pt. - </a:t>
            </a:r>
            <a:r>
              <a:rPr lang="en-GB" dirty="0"/>
              <a:t>Click to add Text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de-DE" dirty="0"/>
          </a:p>
        </p:txBody>
      </p:sp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CB547534-BB19-ACB9-BF60-556E0ADC3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800" y="1188000"/>
            <a:ext cx="10515600" cy="468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9744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1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63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Wingdings" pitchFamily="2" charset="2"/>
        <a:buNone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6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2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1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748800" y="1994170"/>
            <a:ext cx="5574179" cy="1234059"/>
          </a:xfrm>
        </p:spPr>
        <p:txBody>
          <a:bodyPr/>
          <a:lstStyle/>
          <a:p>
            <a:pPr algn="l"/>
            <a:r>
              <a:rPr sz="4000" b="1" dirty="0" err="1">
                <a:solidFill>
                  <a:srgbClr val="38B07D"/>
                </a:solidFill>
              </a:rPr>
              <a:t>Strukturierte</a:t>
            </a:r>
            <a:r>
              <a:rPr sz="4000" b="1" dirty="0">
                <a:solidFill>
                  <a:srgbClr val="38B07D"/>
                </a:solidFill>
              </a:rPr>
              <a:t> </a:t>
            </a:r>
            <a:r>
              <a:rPr sz="4000" b="1" dirty="0" err="1">
                <a:solidFill>
                  <a:srgbClr val="38B07D"/>
                </a:solidFill>
              </a:rPr>
              <a:t>Rechtsdokumente</a:t>
            </a:r>
            <a:endParaRPr sz="4000" b="1" dirty="0">
              <a:solidFill>
                <a:srgbClr val="38B07D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748800" y="3501652"/>
            <a:ext cx="5574179" cy="2136237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sz="2000" b="0" dirty="0"/>
              <a:t>XML als Scharnier für den Abgleich von </a:t>
            </a:r>
          </a:p>
          <a:p>
            <a:pPr algn="l"/>
            <a:r>
              <a:rPr sz="2000" b="0" dirty="0"/>
              <a:t>Rechtsdokumenten </a:t>
            </a:r>
          </a:p>
          <a:p>
            <a:pPr algn="l"/>
            <a:r>
              <a:rPr sz="2000" b="0" dirty="0"/>
              <a:t>(Entscheide und Rechtsschriften)</a:t>
            </a:r>
          </a:p>
          <a:p>
            <a:pPr algn="l"/>
            <a:endParaRPr lang="de-CH" sz="2000" dirty="0"/>
          </a:p>
          <a:p>
            <a:pPr algn="l"/>
            <a:endParaRPr lang="de-CH" sz="2000" b="0" dirty="0"/>
          </a:p>
          <a:p>
            <a:pPr algn="l"/>
            <a:r>
              <a:rPr lang="de-CH" sz="1600" b="0" dirty="0"/>
              <a:t>Jan Reinhardt, Apollo </a:t>
            </a:r>
            <a:r>
              <a:rPr lang="de-CH" sz="1600" b="0" dirty="0" err="1"/>
              <a:t>Dauag</a:t>
            </a:r>
            <a:r>
              <a:rPr lang="de-CH" sz="1600" b="0" dirty="0"/>
              <a:t>, Claudia Schreiber, Sebastian </a:t>
            </a:r>
            <a:r>
              <a:rPr lang="de-CH" sz="1600" b="0"/>
              <a:t>Lorentz, Martin Gajdos, </a:t>
            </a:r>
            <a:r>
              <a:rPr lang="de-CH" sz="1600" b="0" dirty="0"/>
              <a:t>Koray Soguksu</a:t>
            </a:r>
            <a:endParaRPr sz="1600" b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600" b="1">
                <a:solidFill>
                  <a:srgbClr val="38B07D"/>
                </a:solidFill>
              </a:rPr>
              <a:t>Sinn und Zweck — wieso ein strukturiertes Scharnierformat?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38B07D"/>
                </a:solidFill>
              </a:rPr>
              <a:t>Texte und ihre Bezüge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251" y="2572966"/>
            <a:ext cx="10901497" cy="3827834"/>
          </a:xfrm>
        </p:spPr>
        <p:txBody>
          <a:bodyPr wrap="square"/>
          <a:lstStyle/>
          <a:p>
            <a:r>
              <a:rPr sz="1800" dirty="0" err="1">
                <a:solidFill>
                  <a:srgbClr val="212121"/>
                </a:solidFill>
              </a:rPr>
              <a:t>Rechtsschriften</a:t>
            </a:r>
            <a:r>
              <a:rPr sz="1800" dirty="0">
                <a:solidFill>
                  <a:srgbClr val="212121"/>
                </a:solidFill>
              </a:rPr>
              <a:t> und </a:t>
            </a:r>
            <a:r>
              <a:rPr sz="1800" dirty="0" err="1">
                <a:solidFill>
                  <a:srgbClr val="212121"/>
                </a:solidFill>
              </a:rPr>
              <a:t>Urteile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bestehen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mehrheitlich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aus</a:t>
            </a:r>
            <a:r>
              <a:rPr sz="1800" dirty="0">
                <a:solidFill>
                  <a:srgbClr val="212121"/>
                </a:solidFill>
              </a:rPr>
              <a:t> Text.</a:t>
            </a:r>
          </a:p>
          <a:p>
            <a:r>
              <a:rPr sz="1800" dirty="0" err="1">
                <a:solidFill>
                  <a:srgbClr val="212121"/>
                </a:solidFill>
              </a:rPr>
              <a:t>Im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Verfahren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werden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diese</a:t>
            </a:r>
            <a:r>
              <a:rPr sz="1800" dirty="0">
                <a:solidFill>
                  <a:srgbClr val="212121"/>
                </a:solidFill>
              </a:rPr>
              <a:t> Texte </a:t>
            </a:r>
            <a:r>
              <a:rPr sz="1800" dirty="0" err="1">
                <a:solidFill>
                  <a:srgbClr val="212121"/>
                </a:solidFill>
              </a:rPr>
              <a:t>ausgetauscht</a:t>
            </a:r>
            <a:r>
              <a:rPr sz="1800" dirty="0">
                <a:solidFill>
                  <a:srgbClr val="212121"/>
                </a:solidFill>
              </a:rPr>
              <a:t>; es </a:t>
            </a:r>
            <a:r>
              <a:rPr sz="1800" dirty="0" err="1">
                <a:solidFill>
                  <a:srgbClr val="212121"/>
                </a:solidFill>
              </a:rPr>
              <a:t>wird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wechselseitig</a:t>
            </a:r>
            <a:r>
              <a:rPr sz="1800" dirty="0">
                <a:solidFill>
                  <a:srgbClr val="212121"/>
                </a:solidFill>
              </a:rPr>
              <a:t> auf </a:t>
            </a:r>
            <a:r>
              <a:rPr sz="1800" dirty="0" err="1">
                <a:solidFill>
                  <a:srgbClr val="212121"/>
                </a:solidFill>
              </a:rPr>
              <a:t>Textteile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Bezug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genommen</a:t>
            </a:r>
            <a:r>
              <a:rPr sz="1800" dirty="0">
                <a:solidFill>
                  <a:srgbClr val="212121"/>
                </a:solidFill>
              </a:rPr>
              <a:t>.</a:t>
            </a:r>
          </a:p>
          <a:p>
            <a:r>
              <a:rPr sz="1800" dirty="0" err="1">
                <a:solidFill>
                  <a:srgbClr val="212121"/>
                </a:solidFill>
              </a:rPr>
              <a:t>Bezug</a:t>
            </a:r>
            <a:r>
              <a:rPr sz="1800" dirty="0">
                <a:solidFill>
                  <a:srgbClr val="212121"/>
                </a:solidFill>
              </a:rPr>
              <a:t> nicht auf </a:t>
            </a:r>
            <a:r>
              <a:rPr sz="1800" dirty="0" err="1">
                <a:solidFill>
                  <a:srgbClr val="212121"/>
                </a:solidFill>
              </a:rPr>
              <a:t>beliebige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Stellen</a:t>
            </a:r>
            <a:r>
              <a:rPr sz="1800" dirty="0">
                <a:solidFill>
                  <a:srgbClr val="212121"/>
                </a:solidFill>
              </a:rPr>
              <a:t>, </a:t>
            </a:r>
            <a:r>
              <a:rPr sz="1800" dirty="0" err="1">
                <a:solidFill>
                  <a:srgbClr val="212121"/>
                </a:solidFill>
              </a:rPr>
              <a:t>sondern</a:t>
            </a:r>
            <a:r>
              <a:rPr sz="1800" dirty="0">
                <a:solidFill>
                  <a:srgbClr val="212121"/>
                </a:solidFill>
              </a:rPr>
              <a:t> auf </a:t>
            </a:r>
            <a:r>
              <a:rPr sz="1800" dirty="0" err="1">
                <a:solidFill>
                  <a:srgbClr val="212121"/>
                </a:solidFill>
              </a:rPr>
              <a:t>inhaltlich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verwandte</a:t>
            </a:r>
            <a:r>
              <a:rPr sz="1800" dirty="0">
                <a:solidFill>
                  <a:srgbClr val="212121"/>
                </a:solidFill>
              </a:rPr>
              <a:t>:</a:t>
            </a:r>
            <a:endParaRPr lang="de-CH" sz="1800" dirty="0">
              <a:solidFill>
                <a:srgbClr val="212121"/>
              </a:solidFill>
            </a:endParaRPr>
          </a:p>
          <a:p>
            <a:endParaRPr sz="1800" dirty="0">
              <a:solidFill>
                <a:srgbClr val="21212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sz="1600" dirty="0" err="1">
                <a:solidFill>
                  <a:srgbClr val="212121"/>
                </a:solidFill>
              </a:rPr>
              <a:t>Sachverhaltselemente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korrespondieren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mit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Sachverhaltselementen</a:t>
            </a:r>
            <a:r>
              <a:rPr sz="1600" dirty="0">
                <a:solidFill>
                  <a:srgbClr val="212121"/>
                </a:solidFill>
              </a:rPr>
              <a:t>,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sz="1600" dirty="0" err="1">
                <a:solidFill>
                  <a:srgbClr val="212121"/>
                </a:solidFill>
              </a:rPr>
              <a:t>rechtliche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Argumente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werden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gegen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rechtliche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Argumente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erwidert</a:t>
            </a:r>
            <a:r>
              <a:rPr sz="1600" dirty="0">
                <a:solidFill>
                  <a:srgbClr val="212121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6689421" cy="1600200"/>
          </a:xfrm>
        </p:spPr>
        <p:txBody>
          <a:bodyPr/>
          <a:lstStyle/>
          <a:p>
            <a:pPr algn="l"/>
            <a:r>
              <a:rPr sz="2800" b="1" dirty="0">
                <a:solidFill>
                  <a:srgbClr val="38B07D"/>
                </a:solidFill>
              </a:rPr>
              <a:t>Mapping </a:t>
            </a:r>
            <a:r>
              <a:rPr sz="2800" b="1" dirty="0" err="1">
                <a:solidFill>
                  <a:srgbClr val="38B07D"/>
                </a:solidFill>
              </a:rPr>
              <a:t>braucht</a:t>
            </a:r>
            <a:r>
              <a:rPr sz="2800" b="1" dirty="0">
                <a:solidFill>
                  <a:srgbClr val="38B07D"/>
                </a:solidFill>
              </a:rPr>
              <a:t> </a:t>
            </a:r>
            <a:r>
              <a:rPr sz="2800" b="1" dirty="0" err="1">
                <a:solidFill>
                  <a:srgbClr val="38B07D"/>
                </a:solidFill>
              </a:rPr>
              <a:t>minimale</a:t>
            </a:r>
            <a:r>
              <a:rPr sz="2800" b="1" dirty="0">
                <a:solidFill>
                  <a:srgbClr val="38B07D"/>
                </a:solidFill>
              </a:rPr>
              <a:t> </a:t>
            </a:r>
            <a:r>
              <a:rPr sz="2800" b="1" dirty="0" err="1">
                <a:solidFill>
                  <a:srgbClr val="38B07D"/>
                </a:solidFill>
              </a:rPr>
              <a:t>Struktur</a:t>
            </a:r>
            <a:endParaRPr sz="2800" b="1" dirty="0">
              <a:solidFill>
                <a:srgbClr val="38B07D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660" y="3000983"/>
            <a:ext cx="10930680" cy="3399817"/>
          </a:xfrm>
        </p:spPr>
        <p:txBody>
          <a:bodyPr wrap="square"/>
          <a:lstStyle/>
          <a:p>
            <a:r>
              <a:rPr sz="1800" dirty="0">
                <a:solidFill>
                  <a:srgbClr val="212121"/>
                </a:solidFill>
              </a:rPr>
              <a:t>Für den </a:t>
            </a:r>
            <a:r>
              <a:rPr sz="1800" dirty="0" err="1">
                <a:solidFill>
                  <a:srgbClr val="212121"/>
                </a:solidFill>
              </a:rPr>
              <a:t>Austausch</a:t>
            </a:r>
            <a:r>
              <a:rPr sz="1800" dirty="0">
                <a:solidFill>
                  <a:srgbClr val="212121"/>
                </a:solidFill>
              </a:rPr>
              <a:t> und </a:t>
            </a:r>
            <a:r>
              <a:rPr sz="1800" dirty="0" err="1">
                <a:solidFill>
                  <a:srgbClr val="212121"/>
                </a:solidFill>
              </a:rPr>
              <a:t>Abgleich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wird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ein</a:t>
            </a:r>
            <a:r>
              <a:rPr sz="1800" dirty="0">
                <a:solidFill>
                  <a:srgbClr val="212121"/>
                </a:solidFill>
              </a:rPr>
              <a:t> Mapping </a:t>
            </a:r>
            <a:r>
              <a:rPr sz="1800" dirty="0" err="1">
                <a:solidFill>
                  <a:srgbClr val="212121"/>
                </a:solidFill>
              </a:rPr>
              <a:t>benötigt</a:t>
            </a:r>
            <a:r>
              <a:rPr sz="1800" dirty="0">
                <a:solidFill>
                  <a:srgbClr val="212121"/>
                </a:solidFill>
              </a:rPr>
              <a:t>.</a:t>
            </a:r>
          </a:p>
          <a:p>
            <a:r>
              <a:rPr sz="1800" dirty="0">
                <a:solidFill>
                  <a:srgbClr val="212121"/>
                </a:solidFill>
              </a:rPr>
              <a:t>Für das Mapping </a:t>
            </a:r>
            <a:r>
              <a:rPr sz="1800" dirty="0" err="1">
                <a:solidFill>
                  <a:srgbClr val="212121"/>
                </a:solidFill>
              </a:rPr>
              <a:t>ist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eine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minimale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Struktur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hilfreich</a:t>
            </a:r>
            <a:r>
              <a:rPr sz="1800" dirty="0">
                <a:solidFill>
                  <a:srgbClr val="212121"/>
                </a:solidFill>
              </a:rPr>
              <a:t>.</a:t>
            </a:r>
          </a:p>
          <a:p>
            <a:r>
              <a:rPr sz="1800" dirty="0" err="1">
                <a:solidFill>
                  <a:srgbClr val="212121"/>
                </a:solidFill>
              </a:rPr>
              <a:t>Unerheblich</a:t>
            </a:r>
            <a:r>
              <a:rPr sz="1800" dirty="0">
                <a:solidFill>
                  <a:srgbClr val="212121"/>
                </a:solidFill>
              </a:rPr>
              <a:t>, </a:t>
            </a:r>
            <a:r>
              <a:rPr sz="1800" dirty="0" err="1">
                <a:solidFill>
                  <a:srgbClr val="212121"/>
                </a:solidFill>
              </a:rPr>
              <a:t>ob</a:t>
            </a:r>
            <a:r>
              <a:rPr sz="1800" dirty="0">
                <a:solidFill>
                  <a:srgbClr val="212121"/>
                </a:solidFill>
              </a:rPr>
              <a:t> Texte </a:t>
            </a:r>
            <a:r>
              <a:rPr sz="1800" dirty="0" err="1">
                <a:solidFill>
                  <a:srgbClr val="212121"/>
                </a:solidFill>
              </a:rPr>
              <a:t>originär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strukturiert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entstehen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oder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aus</a:t>
            </a:r>
            <a:r>
              <a:rPr sz="1800" dirty="0">
                <a:solidFill>
                  <a:srgbClr val="212121"/>
                </a:solidFill>
              </a:rPr>
              <a:t> PDF </a:t>
            </a:r>
            <a:r>
              <a:rPr sz="1800" dirty="0" err="1">
                <a:solidFill>
                  <a:srgbClr val="212121"/>
                </a:solidFill>
              </a:rPr>
              <a:t>abgeleitet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werden</a:t>
            </a:r>
            <a:r>
              <a:rPr sz="1800" dirty="0">
                <a:solidFill>
                  <a:srgbClr val="212121"/>
                </a:solidFill>
              </a:rPr>
              <a:t>.</a:t>
            </a:r>
          </a:p>
          <a:p>
            <a:r>
              <a:rPr sz="1800" dirty="0" err="1">
                <a:solidFill>
                  <a:srgbClr val="212121"/>
                </a:solidFill>
              </a:rPr>
              <a:t>Entscheidend</a:t>
            </a:r>
            <a:r>
              <a:rPr sz="1800" dirty="0">
                <a:solidFill>
                  <a:srgbClr val="212121"/>
                </a:solidFill>
              </a:rPr>
              <a:t>: </a:t>
            </a:r>
            <a:r>
              <a:rPr sz="1800" dirty="0" err="1">
                <a:solidFill>
                  <a:srgbClr val="212121"/>
                </a:solidFill>
              </a:rPr>
              <a:t>typische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Bezüge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maschinell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nachvollziehbar</a:t>
            </a:r>
            <a:r>
              <a:rPr sz="1800" dirty="0">
                <a:solidFill>
                  <a:srgbClr val="212121"/>
                </a:solidFill>
              </a:rPr>
              <a:t>.</a:t>
            </a:r>
          </a:p>
          <a:p>
            <a:r>
              <a:rPr sz="1800" dirty="0" err="1">
                <a:solidFill>
                  <a:srgbClr val="212121"/>
                </a:solidFill>
              </a:rPr>
              <a:t>Strukturierung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bewusst</a:t>
            </a:r>
            <a:r>
              <a:rPr sz="1800" dirty="0">
                <a:solidFill>
                  <a:srgbClr val="212121"/>
                </a:solidFill>
              </a:rPr>
              <a:t> minimal — </a:t>
            </a:r>
            <a:r>
              <a:rPr sz="1800" dirty="0" err="1">
                <a:solidFill>
                  <a:srgbClr val="212121"/>
                </a:solidFill>
              </a:rPr>
              <a:t>gerade</a:t>
            </a:r>
            <a:r>
              <a:rPr sz="1800" dirty="0">
                <a:solidFill>
                  <a:srgbClr val="212121"/>
                </a:solidFill>
              </a:rPr>
              <a:t> so </a:t>
            </a:r>
            <a:r>
              <a:rPr sz="1800" dirty="0" err="1">
                <a:solidFill>
                  <a:srgbClr val="212121"/>
                </a:solidFill>
              </a:rPr>
              <a:t>präzise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wie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nötig</a:t>
            </a:r>
            <a:r>
              <a:rPr sz="1800" dirty="0">
                <a:solidFill>
                  <a:srgbClr val="212121"/>
                </a:solidFill>
              </a:rPr>
              <a:t>, nicht so </a:t>
            </a:r>
            <a:r>
              <a:rPr sz="1800" dirty="0" err="1">
                <a:solidFill>
                  <a:srgbClr val="212121"/>
                </a:solidFill>
              </a:rPr>
              <a:t>detailliert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wie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möglich</a:t>
            </a:r>
            <a:r>
              <a:rPr sz="1800" dirty="0">
                <a:solidFill>
                  <a:srgbClr val="212121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036D7-C5EF-5F1B-EC3A-70A6C1A6B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0448D-D45A-D786-1540-49D6B4BA3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9957914" cy="1600200"/>
          </a:xfrm>
        </p:spPr>
        <p:txBody>
          <a:bodyPr/>
          <a:lstStyle/>
          <a:p>
            <a:r>
              <a:rPr lang="de-DE" b="1" dirty="0">
                <a:solidFill>
                  <a:srgbClr val="38B07D"/>
                </a:solidFill>
              </a:rPr>
              <a:t>Nicht Vollabbildung, sondern Anker für den Abgleich.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7C0B75-FE3B-BBE1-8016-7843B5B7A9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660" y="3000983"/>
            <a:ext cx="10930680" cy="3399817"/>
          </a:xfrm>
        </p:spPr>
        <p:txBody>
          <a:bodyPr wrap="square"/>
          <a:lstStyle/>
          <a:p>
            <a:r>
              <a:rPr lang="de-DE" dirty="0">
                <a:solidFill>
                  <a:srgbClr val="555555"/>
                </a:solidFill>
              </a:rPr>
              <a:t>Ziel ist nicht, Rechtsschriften und Entscheide vollständig in strukturierter Form abzubilden.</a:t>
            </a:r>
          </a:p>
        </p:txBody>
      </p:sp>
    </p:spTree>
    <p:extLst>
      <p:ext uri="{BB962C8B-B14F-4D97-AF65-F5344CB8AC3E}">
        <p14:creationId xmlns:p14="http://schemas.microsoft.com/office/powerpoint/2010/main" val="780889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eJustice">
      <a:dk1>
        <a:srgbClr val="212121"/>
      </a:dk1>
      <a:lt1>
        <a:srgbClr val="FFFFFF"/>
      </a:lt1>
      <a:dk2>
        <a:srgbClr val="38B07D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penLegalLab PowerPoint" id="{4694400B-0C6C-F445-AFD6-252A0F901D5A}" vid="{81353AE6-8B9B-904A-8008-B2255B23A587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176</Words>
  <Application>Microsoft Office PowerPoint</Application>
  <PresentationFormat>Breitbild</PresentationFormat>
  <Paragraphs>25</Paragraphs>
  <Slides>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1" baseType="lpstr">
      <vt:lpstr>Arial</vt:lpstr>
      <vt:lpstr>Calibri</vt:lpstr>
      <vt:lpstr>Roboto</vt:lpstr>
      <vt:lpstr>Wingdings</vt:lpstr>
      <vt:lpstr>Office</vt:lpstr>
      <vt:lpstr>PowerPoint-Präsentation</vt:lpstr>
      <vt:lpstr>Sinn und Zweck — wieso ein strukturiertes Scharnierformat?</vt:lpstr>
      <vt:lpstr>Texte und ihre Bezüge</vt:lpstr>
      <vt:lpstr>Mapping braucht minimale Struktur</vt:lpstr>
      <vt:lpstr>Nicht Vollabbildung, sondern Anker für den Abgleich.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Beuggert Viviane BJ</dc:creator>
  <cp:lastModifiedBy>Koray Soguksu</cp:lastModifiedBy>
  <cp:revision>21</cp:revision>
  <dcterms:created xsi:type="dcterms:W3CDTF">2025-02-17T18:39:28Z</dcterms:created>
  <dcterms:modified xsi:type="dcterms:W3CDTF">2026-04-27T08:34:19Z</dcterms:modified>
</cp:coreProperties>
</file>