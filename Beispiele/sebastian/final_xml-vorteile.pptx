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2" r:id="rId6"/>
    <p:sldId id="261" r:id="rId7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63C"/>
    <a:srgbClr val="323433"/>
    <a:srgbClr val="333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68" autoAdjust="0"/>
    <p:restoredTop sz="86345"/>
  </p:normalViewPr>
  <p:slideViewPr>
    <p:cSldViewPr snapToGrid="0" snapToObjects="1">
      <p:cViewPr varScale="1">
        <p:scale>
          <a:sx n="79" d="100"/>
          <a:sy n="79" d="100"/>
        </p:scale>
        <p:origin x="624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204" d="100"/>
          <a:sy n="204" d="100"/>
        </p:scale>
        <p:origin x="45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5CCE98-7A8A-1F4E-8E01-D347D6ECE8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8" name="Kopfzeilenplatzhalter 7">
            <a:extLst>
              <a:ext uri="{FF2B5EF4-FFF2-40B4-BE49-F238E27FC236}">
                <a16:creationId xmlns:a16="http://schemas.microsoft.com/office/drawing/2014/main" id="{192C273B-FEF6-AE4D-B09E-85F88B929E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EAF9C09-C07A-1D43-937D-EA0F3D4E24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6680" y="-545306"/>
            <a:ext cx="7556500" cy="14351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E4462FD-D5B8-3943-AFC9-E7EA2763D3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3488" y="6399148"/>
            <a:ext cx="7556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6384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Test Header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7801E-AADA-1C49-8F7E-9C272F90AE9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Footer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75377-55E4-144D-8DDF-2D01BB125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858019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Test Header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64253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176D0281-EE42-9C40-8817-A208A04239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2409660"/>
            <a:ext cx="10515600" cy="818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48 Pt.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A6C1E5B0-F333-2142-BEF9-1285544F6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800" y="3501652"/>
            <a:ext cx="10515600" cy="2136237"/>
          </a:xfrm>
          <a:prstGeom prst="rect">
            <a:avLst/>
          </a:prstGeom>
        </p:spPr>
        <p:txBody>
          <a:bodyPr wrap="square" tIns="90000" rIns="90000"/>
          <a:lstStyle>
            <a:lvl1pPr marL="0" indent="0">
              <a:buNone/>
              <a:defRPr lang="de-CH" sz="1800" b="0" i="0" u="none" strike="noStrike" smtClean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268571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-&#10;überschrif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7D2D-94E5-5F27-C675-173A8B03C3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0799" y="3502800"/>
            <a:ext cx="5677951" cy="182457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GB" dirty="0"/>
              <a:t>Click to add new Section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0473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0">
            <a:extLst>
              <a:ext uri="{FF2B5EF4-FFF2-40B4-BE49-F238E27FC236}">
                <a16:creationId xmlns:a16="http://schemas.microsoft.com/office/drawing/2014/main" id="{A22BD047-8E4C-527D-CCDC-BA7972E460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25209" y="1406536"/>
            <a:ext cx="8039191" cy="4962193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itchFamily="2" charset="2"/>
              <a:buChar char="§"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BEB1F-01F7-DDEA-4A4A-950B466AED68}"/>
              </a:ext>
            </a:extLst>
          </p:cNvPr>
          <p:cNvSpPr txBox="1"/>
          <p:nvPr userDrawn="1"/>
        </p:nvSpPr>
        <p:spPr>
          <a:xfrm>
            <a:off x="748800" y="1275659"/>
            <a:ext cx="217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353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17EBB82C-3E8A-1C48-925C-B76443032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9300" y="1728000"/>
            <a:ext cx="10515600" cy="3063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Regular 20 Pt.</a:t>
            </a:r>
          </a:p>
        </p:txBody>
      </p:sp>
      <p:sp>
        <p:nvSpPr>
          <p:cNvPr id="30" name="Inhaltsplatzhalter 29">
            <a:extLst>
              <a:ext uri="{FF2B5EF4-FFF2-40B4-BE49-F238E27FC236}">
                <a16:creationId xmlns:a16="http://schemas.microsoft.com/office/drawing/2014/main" id="{B0EF0E8E-F056-064E-9A2E-93D4FDDED67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40" name="Textplatzhalter 20">
            <a:extLst>
              <a:ext uri="{FF2B5EF4-FFF2-40B4-BE49-F238E27FC236}">
                <a16:creationId xmlns:a16="http://schemas.microsoft.com/office/drawing/2014/main" id="{0ECE8AA7-941F-7D46-B628-34D6BA6F98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2160000"/>
            <a:ext cx="10515600" cy="4152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92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51E4EAC9-D047-2C45-88F6-4ED6F50D1F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187999"/>
            <a:ext cx="10515600" cy="512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132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4F2A1D-4C21-B942-AAA1-DF7CE523D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9300" y="2182574"/>
            <a:ext cx="5181600" cy="4129448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158A02-13EF-E749-8A40-CB484D502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82575"/>
            <a:ext cx="5181600" cy="4129447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9">
            <a:extLst>
              <a:ext uri="{FF2B5EF4-FFF2-40B4-BE49-F238E27FC236}">
                <a16:creationId xmlns:a16="http://schemas.microsoft.com/office/drawing/2014/main" id="{8FF5512A-ECEE-DC49-BF25-F69F7FBF58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604500" cy="3918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50BD2459-8B33-D14B-B83C-BA7C2DC35E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1728000"/>
            <a:ext cx="10604500" cy="30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20 Pt.</a:t>
            </a:r>
          </a:p>
        </p:txBody>
      </p:sp>
    </p:spTree>
    <p:extLst>
      <p:ext uri="{BB962C8B-B14F-4D97-AF65-F5344CB8AC3E}">
        <p14:creationId xmlns:p14="http://schemas.microsoft.com/office/powerpoint/2010/main" val="314274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9">
            <a:extLst>
              <a:ext uri="{FF2B5EF4-FFF2-40B4-BE49-F238E27FC236}">
                <a16:creationId xmlns:a16="http://schemas.microsoft.com/office/drawing/2014/main" id="{FA0BFAAE-D7C8-684F-BC24-7E4A845F2D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515600" cy="4801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AFE4394A-6FF9-1B40-9F55-528FDB6EA7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728000"/>
            <a:ext cx="10515600" cy="458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29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8EAB27-CF11-98E7-489A-3AACEDAF4E08}"/>
              </a:ext>
            </a:extLst>
          </p:cNvPr>
          <p:cNvSpPr txBox="1"/>
          <p:nvPr userDrawn="1"/>
        </p:nvSpPr>
        <p:spPr>
          <a:xfrm>
            <a:off x="748800" y="3502799"/>
            <a:ext cx="5677200" cy="182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Vielen Dank für Ihre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288363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7CFDC4-FA67-9A48-AFEA-5E7D410A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35712A-9AAE-8749-AF55-CC983F60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67726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5454D7-77B3-6C42-8AEB-91F70F505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77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3AE305-4E43-EC4E-BE6B-2200F7FD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116411EA-06D6-E041-9B0E-4331E45F507D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62A407-0734-2E42-A3E7-74C49C85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2547C5-4A0C-E248-9949-6B294267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85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5A4ED-0917-9D43-8A39-CC3D6F02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00EF6C-91BD-A045-9860-29149F712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686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DEF283-92D0-C24B-8AB2-2563D85B9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085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139549-30B0-534A-A523-ADC5A04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AAB911A-49BF-3745-B3C5-482F56D23E2C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AA65C3-C5C8-554A-94A6-7E325B68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0CF6B6-588C-4E44-88B0-AC71937E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4892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E1BDD-FBDE-3B40-B60B-F5D47B48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8992"/>
            <a:ext cx="10515600" cy="611696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37FDC8-3A96-D649-86EF-9D9412966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17723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2A71BE-6A5B-5F44-AC93-F6FEA16C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4E0C52A-29C9-FF4F-9069-00A38FDE22D9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450247-9996-1F4C-B4F2-389301C8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524CD-CF85-454D-B4DE-762B8A6A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8542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834B5A7-7CA7-5B47-BB33-CA9E8FECC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04856"/>
          </a:xfrm>
          <a:prstGeom prst="rect">
            <a:avLst/>
          </a:prstGeom>
        </p:spPr>
        <p:txBody>
          <a:bodyPr vert="eaVert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87E7AB-345F-314C-BA55-25801AC4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04856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8388B-2A7D-6C48-A506-6F3B61FD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5F3772E1-035C-8C42-A85B-0BC63446A0F6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1AE90-9DBF-C343-A3DA-E2C39BDA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FF1546-4B4E-F349-8CAC-E3F211C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82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443CE-945E-AE4A-B31A-35F09132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4386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tx1"/>
                </a:solidFill>
                <a:latin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259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FA36828-6A4B-464C-9C67-068D09C4462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6400800" cy="1144988"/>
          </a:xfrm>
          <a:prstGeom prst="rect">
            <a:avLst/>
          </a:prstGeom>
          <a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noFill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73E8C-FAD2-F1DC-8AEF-0CB4BA83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800" y="2160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547534-BB19-ACB9-BF60-556E0ADC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74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63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None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48800" y="1994170"/>
            <a:ext cx="5574179" cy="1234059"/>
          </a:xfrm>
        </p:spPr>
        <p:txBody>
          <a:bodyPr/>
          <a:lstStyle/>
          <a:p>
            <a:pPr algn="l"/>
            <a:r>
              <a:rPr sz="4000" b="1" dirty="0" err="1">
                <a:solidFill>
                  <a:srgbClr val="38B07D"/>
                </a:solidFill>
              </a:rPr>
              <a:t>Strukturierte</a:t>
            </a:r>
            <a:r>
              <a:rPr sz="4000" b="1" dirty="0">
                <a:solidFill>
                  <a:srgbClr val="38B07D"/>
                </a:solidFill>
              </a:rPr>
              <a:t> </a:t>
            </a:r>
            <a:r>
              <a:rPr sz="4000" b="1" dirty="0" err="1">
                <a:solidFill>
                  <a:srgbClr val="38B07D"/>
                </a:solidFill>
              </a:rPr>
              <a:t>Rechtsdokumente</a:t>
            </a:r>
            <a:endParaRPr sz="4000" b="1" dirty="0">
              <a:solidFill>
                <a:srgbClr val="38B07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48800" y="3501652"/>
            <a:ext cx="5574179" cy="213623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sz="2000" b="0" dirty="0"/>
              <a:t>XML als Scharnier für den Abgleich von </a:t>
            </a:r>
          </a:p>
          <a:p>
            <a:pPr algn="l"/>
            <a:r>
              <a:rPr sz="2000" b="0" dirty="0"/>
              <a:t>Rechtsdokumenten </a:t>
            </a:r>
          </a:p>
          <a:p>
            <a:pPr algn="l"/>
            <a:r>
              <a:rPr sz="2000" b="0" dirty="0"/>
              <a:t>(Entscheide und Rechtsschriften)</a:t>
            </a:r>
          </a:p>
          <a:p>
            <a:pPr algn="l"/>
            <a:endParaRPr lang="de-CH" sz="2000" dirty="0"/>
          </a:p>
          <a:p>
            <a:pPr algn="l"/>
            <a:endParaRPr lang="de-CH" sz="2000" b="0" dirty="0"/>
          </a:p>
          <a:p>
            <a:pPr algn="l"/>
            <a:r>
              <a:rPr lang="de-CH" sz="1600" b="0" dirty="0"/>
              <a:t>Jan Reinhardt, Apollo </a:t>
            </a:r>
            <a:r>
              <a:rPr lang="de-CH" sz="1600" b="0" dirty="0" err="1"/>
              <a:t>Dauag</a:t>
            </a:r>
            <a:r>
              <a:rPr lang="de-CH" sz="1600" b="0" dirty="0"/>
              <a:t>, Claudia Schreiber, Sebastian Lorentz, Koray Soguksu</a:t>
            </a:r>
            <a:endParaRPr sz="16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07D"/>
                </a:solidFill>
              </a:rPr>
              <a:t>Sinn und Zweck — wieso ein strukturiertes Scharnierformat?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Texte und ihre Bezüge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51" y="2572966"/>
            <a:ext cx="10901497" cy="3827834"/>
          </a:xfrm>
        </p:spPr>
        <p:txBody>
          <a:bodyPr wrap="square"/>
          <a:lstStyle/>
          <a:p>
            <a:r>
              <a:rPr sz="1800" dirty="0" err="1">
                <a:solidFill>
                  <a:srgbClr val="212121"/>
                </a:solidFill>
              </a:rPr>
              <a:t>Rechtsschriften</a:t>
            </a:r>
            <a:r>
              <a:rPr sz="1800" dirty="0">
                <a:solidFill>
                  <a:srgbClr val="212121"/>
                </a:solidFill>
              </a:rPr>
              <a:t> und </a:t>
            </a:r>
            <a:r>
              <a:rPr sz="1800" dirty="0" err="1">
                <a:solidFill>
                  <a:srgbClr val="212121"/>
                </a:solidFill>
              </a:rPr>
              <a:t>Urteile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bestehen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mehrheitlich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aus</a:t>
            </a:r>
            <a:r>
              <a:rPr sz="1800" dirty="0">
                <a:solidFill>
                  <a:srgbClr val="212121"/>
                </a:solidFill>
              </a:rPr>
              <a:t> Text.</a:t>
            </a:r>
          </a:p>
          <a:p>
            <a:r>
              <a:rPr sz="1800" dirty="0" err="1">
                <a:solidFill>
                  <a:srgbClr val="212121"/>
                </a:solidFill>
              </a:rPr>
              <a:t>Im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Verfahren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werden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diese</a:t>
            </a:r>
            <a:r>
              <a:rPr sz="1800" dirty="0">
                <a:solidFill>
                  <a:srgbClr val="212121"/>
                </a:solidFill>
              </a:rPr>
              <a:t> Texte </a:t>
            </a:r>
            <a:r>
              <a:rPr sz="1800" dirty="0" err="1">
                <a:solidFill>
                  <a:srgbClr val="212121"/>
                </a:solidFill>
              </a:rPr>
              <a:t>ausgetauscht</a:t>
            </a:r>
            <a:r>
              <a:rPr sz="1800" dirty="0">
                <a:solidFill>
                  <a:srgbClr val="212121"/>
                </a:solidFill>
              </a:rPr>
              <a:t>; es </a:t>
            </a:r>
            <a:r>
              <a:rPr sz="1800" dirty="0" err="1">
                <a:solidFill>
                  <a:srgbClr val="212121"/>
                </a:solidFill>
              </a:rPr>
              <a:t>wird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wechselseitig</a:t>
            </a:r>
            <a:r>
              <a:rPr sz="1800" dirty="0">
                <a:solidFill>
                  <a:srgbClr val="212121"/>
                </a:solidFill>
              </a:rPr>
              <a:t> auf </a:t>
            </a:r>
            <a:r>
              <a:rPr sz="1800" dirty="0" err="1">
                <a:solidFill>
                  <a:srgbClr val="212121"/>
                </a:solidFill>
              </a:rPr>
              <a:t>Textteile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Bezug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genommen</a:t>
            </a:r>
            <a:r>
              <a:rPr sz="1800" dirty="0">
                <a:solidFill>
                  <a:srgbClr val="212121"/>
                </a:solidFill>
              </a:rPr>
              <a:t>.</a:t>
            </a:r>
          </a:p>
          <a:p>
            <a:r>
              <a:rPr sz="1800" dirty="0" err="1">
                <a:solidFill>
                  <a:srgbClr val="212121"/>
                </a:solidFill>
              </a:rPr>
              <a:t>Bezug</a:t>
            </a:r>
            <a:r>
              <a:rPr sz="1800" dirty="0">
                <a:solidFill>
                  <a:srgbClr val="212121"/>
                </a:solidFill>
              </a:rPr>
              <a:t> nicht auf </a:t>
            </a:r>
            <a:r>
              <a:rPr sz="1800" dirty="0" err="1">
                <a:solidFill>
                  <a:srgbClr val="212121"/>
                </a:solidFill>
              </a:rPr>
              <a:t>beliebige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Stellen</a:t>
            </a:r>
            <a:r>
              <a:rPr sz="1800" dirty="0">
                <a:solidFill>
                  <a:srgbClr val="212121"/>
                </a:solidFill>
              </a:rPr>
              <a:t>, </a:t>
            </a:r>
            <a:r>
              <a:rPr sz="1800" dirty="0" err="1">
                <a:solidFill>
                  <a:srgbClr val="212121"/>
                </a:solidFill>
              </a:rPr>
              <a:t>sondern</a:t>
            </a:r>
            <a:r>
              <a:rPr sz="1800" dirty="0">
                <a:solidFill>
                  <a:srgbClr val="212121"/>
                </a:solidFill>
              </a:rPr>
              <a:t> auf </a:t>
            </a:r>
            <a:r>
              <a:rPr sz="1800" dirty="0" err="1">
                <a:solidFill>
                  <a:srgbClr val="212121"/>
                </a:solidFill>
              </a:rPr>
              <a:t>inhaltlich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verwandte</a:t>
            </a:r>
            <a:r>
              <a:rPr sz="1800" dirty="0">
                <a:solidFill>
                  <a:srgbClr val="212121"/>
                </a:solidFill>
              </a:rPr>
              <a:t>:</a:t>
            </a:r>
            <a:endParaRPr lang="de-CH" sz="1800" dirty="0">
              <a:solidFill>
                <a:srgbClr val="212121"/>
              </a:solidFill>
            </a:endParaRPr>
          </a:p>
          <a:p>
            <a:endParaRPr sz="1800" dirty="0">
              <a:solidFill>
                <a:srgbClr val="21212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12121"/>
                </a:solidFill>
              </a:rPr>
              <a:t>Sachverhaltselemente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korrespondieren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mit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Sachverhaltselementen</a:t>
            </a:r>
            <a:r>
              <a:rPr sz="1600" dirty="0">
                <a:solidFill>
                  <a:srgbClr val="212121"/>
                </a:solidFill>
              </a:rPr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12121"/>
                </a:solidFill>
              </a:rPr>
              <a:t>rechtliche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Argumente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werden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gegen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rechtliche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Argumente</a:t>
            </a:r>
            <a:r>
              <a:rPr sz="1600" dirty="0">
                <a:solidFill>
                  <a:srgbClr val="212121"/>
                </a:solidFill>
              </a:rPr>
              <a:t> </a:t>
            </a:r>
            <a:r>
              <a:rPr sz="1600" dirty="0" err="1">
                <a:solidFill>
                  <a:srgbClr val="212121"/>
                </a:solidFill>
              </a:rPr>
              <a:t>erwidert</a:t>
            </a:r>
            <a:r>
              <a:rPr sz="1600" dirty="0">
                <a:solidFill>
                  <a:srgbClr val="21212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6689421" cy="1600200"/>
          </a:xfrm>
        </p:spPr>
        <p:txBody>
          <a:bodyPr/>
          <a:lstStyle/>
          <a:p>
            <a:pPr algn="l"/>
            <a:r>
              <a:rPr sz="2800" b="1" dirty="0">
                <a:solidFill>
                  <a:srgbClr val="38B07D"/>
                </a:solidFill>
              </a:rPr>
              <a:t>Mapping </a:t>
            </a:r>
            <a:r>
              <a:rPr sz="2800" b="1" dirty="0" err="1">
                <a:solidFill>
                  <a:srgbClr val="38B07D"/>
                </a:solidFill>
              </a:rPr>
              <a:t>braucht</a:t>
            </a:r>
            <a:r>
              <a:rPr sz="2800" b="1" dirty="0">
                <a:solidFill>
                  <a:srgbClr val="38B07D"/>
                </a:solidFill>
              </a:rPr>
              <a:t> </a:t>
            </a:r>
            <a:r>
              <a:rPr sz="2800" b="1" dirty="0" err="1">
                <a:solidFill>
                  <a:srgbClr val="38B07D"/>
                </a:solidFill>
              </a:rPr>
              <a:t>minimale</a:t>
            </a:r>
            <a:r>
              <a:rPr sz="2800" b="1" dirty="0">
                <a:solidFill>
                  <a:srgbClr val="38B07D"/>
                </a:solidFill>
              </a:rPr>
              <a:t> </a:t>
            </a:r>
            <a:r>
              <a:rPr sz="2800" b="1" dirty="0" err="1">
                <a:solidFill>
                  <a:srgbClr val="38B07D"/>
                </a:solidFill>
              </a:rPr>
              <a:t>Struktur</a:t>
            </a:r>
            <a:endParaRPr sz="2800" b="1" dirty="0">
              <a:solidFill>
                <a:srgbClr val="38B07D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660" y="3000983"/>
            <a:ext cx="10930680" cy="3399817"/>
          </a:xfrm>
        </p:spPr>
        <p:txBody>
          <a:bodyPr wrap="square"/>
          <a:lstStyle/>
          <a:p>
            <a:r>
              <a:rPr sz="1800" dirty="0">
                <a:solidFill>
                  <a:srgbClr val="212121"/>
                </a:solidFill>
              </a:rPr>
              <a:t>Für den </a:t>
            </a:r>
            <a:r>
              <a:rPr sz="1800" dirty="0" err="1">
                <a:solidFill>
                  <a:srgbClr val="212121"/>
                </a:solidFill>
              </a:rPr>
              <a:t>Austausch</a:t>
            </a:r>
            <a:r>
              <a:rPr sz="1800" dirty="0">
                <a:solidFill>
                  <a:srgbClr val="212121"/>
                </a:solidFill>
              </a:rPr>
              <a:t> und </a:t>
            </a:r>
            <a:r>
              <a:rPr sz="1800" dirty="0" err="1">
                <a:solidFill>
                  <a:srgbClr val="212121"/>
                </a:solidFill>
              </a:rPr>
              <a:t>Abgleich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wird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ein</a:t>
            </a:r>
            <a:r>
              <a:rPr sz="1800" dirty="0">
                <a:solidFill>
                  <a:srgbClr val="212121"/>
                </a:solidFill>
              </a:rPr>
              <a:t> Mapping </a:t>
            </a:r>
            <a:r>
              <a:rPr sz="1800" dirty="0" err="1">
                <a:solidFill>
                  <a:srgbClr val="212121"/>
                </a:solidFill>
              </a:rPr>
              <a:t>benötigt</a:t>
            </a:r>
            <a:r>
              <a:rPr sz="1800" dirty="0">
                <a:solidFill>
                  <a:srgbClr val="212121"/>
                </a:solidFill>
              </a:rPr>
              <a:t>.</a:t>
            </a:r>
          </a:p>
          <a:p>
            <a:r>
              <a:rPr sz="1800" dirty="0">
                <a:solidFill>
                  <a:srgbClr val="212121"/>
                </a:solidFill>
              </a:rPr>
              <a:t>Für das Mapping </a:t>
            </a:r>
            <a:r>
              <a:rPr sz="1800" dirty="0" err="1">
                <a:solidFill>
                  <a:srgbClr val="212121"/>
                </a:solidFill>
              </a:rPr>
              <a:t>ist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eine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minimale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Struktur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hilfreich</a:t>
            </a:r>
            <a:r>
              <a:rPr sz="1800" dirty="0">
                <a:solidFill>
                  <a:srgbClr val="212121"/>
                </a:solidFill>
              </a:rPr>
              <a:t>.</a:t>
            </a:r>
          </a:p>
          <a:p>
            <a:r>
              <a:rPr sz="1800" dirty="0" err="1">
                <a:solidFill>
                  <a:srgbClr val="212121"/>
                </a:solidFill>
              </a:rPr>
              <a:t>Unerheblich</a:t>
            </a:r>
            <a:r>
              <a:rPr sz="1800" dirty="0">
                <a:solidFill>
                  <a:srgbClr val="212121"/>
                </a:solidFill>
              </a:rPr>
              <a:t>, </a:t>
            </a:r>
            <a:r>
              <a:rPr sz="1800" dirty="0" err="1">
                <a:solidFill>
                  <a:srgbClr val="212121"/>
                </a:solidFill>
              </a:rPr>
              <a:t>ob</a:t>
            </a:r>
            <a:r>
              <a:rPr sz="1800" dirty="0">
                <a:solidFill>
                  <a:srgbClr val="212121"/>
                </a:solidFill>
              </a:rPr>
              <a:t> Texte </a:t>
            </a:r>
            <a:r>
              <a:rPr sz="1800" dirty="0" err="1">
                <a:solidFill>
                  <a:srgbClr val="212121"/>
                </a:solidFill>
              </a:rPr>
              <a:t>originär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strukturiert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entstehen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oder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aus</a:t>
            </a:r>
            <a:r>
              <a:rPr sz="1800" dirty="0">
                <a:solidFill>
                  <a:srgbClr val="212121"/>
                </a:solidFill>
              </a:rPr>
              <a:t> PDF </a:t>
            </a:r>
            <a:r>
              <a:rPr sz="1800" dirty="0" err="1">
                <a:solidFill>
                  <a:srgbClr val="212121"/>
                </a:solidFill>
              </a:rPr>
              <a:t>abgeleitet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werden</a:t>
            </a:r>
            <a:r>
              <a:rPr sz="1800" dirty="0">
                <a:solidFill>
                  <a:srgbClr val="212121"/>
                </a:solidFill>
              </a:rPr>
              <a:t>.</a:t>
            </a:r>
          </a:p>
          <a:p>
            <a:r>
              <a:rPr sz="1800" dirty="0" err="1">
                <a:solidFill>
                  <a:srgbClr val="212121"/>
                </a:solidFill>
              </a:rPr>
              <a:t>Entscheidend</a:t>
            </a:r>
            <a:r>
              <a:rPr sz="1800" dirty="0">
                <a:solidFill>
                  <a:srgbClr val="212121"/>
                </a:solidFill>
              </a:rPr>
              <a:t>: </a:t>
            </a:r>
            <a:r>
              <a:rPr sz="1800" dirty="0" err="1">
                <a:solidFill>
                  <a:srgbClr val="212121"/>
                </a:solidFill>
              </a:rPr>
              <a:t>typische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Bezüge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maschinell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nachvollziehbar</a:t>
            </a:r>
            <a:r>
              <a:rPr sz="1800" dirty="0">
                <a:solidFill>
                  <a:srgbClr val="212121"/>
                </a:solidFill>
              </a:rPr>
              <a:t>.</a:t>
            </a:r>
          </a:p>
          <a:p>
            <a:r>
              <a:rPr sz="1800" dirty="0" err="1">
                <a:solidFill>
                  <a:srgbClr val="212121"/>
                </a:solidFill>
              </a:rPr>
              <a:t>Strukturierung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bewusst</a:t>
            </a:r>
            <a:r>
              <a:rPr sz="1800" dirty="0">
                <a:solidFill>
                  <a:srgbClr val="212121"/>
                </a:solidFill>
              </a:rPr>
              <a:t> minimal — </a:t>
            </a:r>
            <a:r>
              <a:rPr sz="1800" dirty="0" err="1">
                <a:solidFill>
                  <a:srgbClr val="212121"/>
                </a:solidFill>
              </a:rPr>
              <a:t>gerade</a:t>
            </a:r>
            <a:r>
              <a:rPr sz="1800" dirty="0">
                <a:solidFill>
                  <a:srgbClr val="212121"/>
                </a:solidFill>
              </a:rPr>
              <a:t> so </a:t>
            </a:r>
            <a:r>
              <a:rPr sz="1800" dirty="0" err="1">
                <a:solidFill>
                  <a:srgbClr val="212121"/>
                </a:solidFill>
              </a:rPr>
              <a:t>präzise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wie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nötig</a:t>
            </a:r>
            <a:r>
              <a:rPr sz="1800" dirty="0">
                <a:solidFill>
                  <a:srgbClr val="212121"/>
                </a:solidFill>
              </a:rPr>
              <a:t>, nicht so </a:t>
            </a:r>
            <a:r>
              <a:rPr sz="1800" dirty="0" err="1">
                <a:solidFill>
                  <a:srgbClr val="212121"/>
                </a:solidFill>
              </a:rPr>
              <a:t>detailliert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wie</a:t>
            </a:r>
            <a:r>
              <a:rPr sz="1800" dirty="0">
                <a:solidFill>
                  <a:srgbClr val="212121"/>
                </a:solidFill>
              </a:rPr>
              <a:t> </a:t>
            </a:r>
            <a:r>
              <a:rPr sz="1800" dirty="0" err="1">
                <a:solidFill>
                  <a:srgbClr val="212121"/>
                </a:solidFill>
              </a:rPr>
              <a:t>möglich</a:t>
            </a:r>
            <a:r>
              <a:rPr sz="1800" dirty="0">
                <a:solidFill>
                  <a:srgbClr val="21212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36D7-C5EF-5F1B-EC3A-70A6C1A6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448D-D45A-D786-1540-49D6B4BA3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957914" cy="1600200"/>
          </a:xfrm>
        </p:spPr>
        <p:txBody>
          <a:bodyPr/>
          <a:lstStyle/>
          <a:p>
            <a:r>
              <a:rPr lang="de-DE" b="1" dirty="0">
                <a:solidFill>
                  <a:srgbClr val="38B07D"/>
                </a:solidFill>
              </a:rPr>
              <a:t>Nicht Vollabbildung, sondern Anker für den Abgleich.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C0B75-FE3B-BBE1-8016-7843B5B7A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660" y="3000983"/>
            <a:ext cx="10930680" cy="3399817"/>
          </a:xfrm>
        </p:spPr>
        <p:txBody>
          <a:bodyPr wrap="square"/>
          <a:lstStyle/>
          <a:p>
            <a:r>
              <a:rPr lang="de-DE" dirty="0">
                <a:solidFill>
                  <a:srgbClr val="555555"/>
                </a:solidFill>
              </a:rPr>
              <a:t>Ziel ist nicht, Rechtsschriften und Entscheide vollständig in strukturierter Form abzubilden.</a:t>
            </a:r>
          </a:p>
        </p:txBody>
      </p:sp>
    </p:spTree>
    <p:extLst>
      <p:ext uri="{BB962C8B-B14F-4D97-AF65-F5344CB8AC3E}">
        <p14:creationId xmlns:p14="http://schemas.microsoft.com/office/powerpoint/2010/main" val="7808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eJustice">
      <a:dk1>
        <a:srgbClr val="212121"/>
      </a:dk1>
      <a:lt1>
        <a:srgbClr val="FFFFFF"/>
      </a:lt1>
      <a:dk2>
        <a:srgbClr val="38B07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LegalLab PowerPoint" id="{4694400B-0C6C-F445-AFD6-252A0F901D5A}" vid="{81353AE6-8B9B-904A-8008-B2255B23A58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173</Words>
  <Application>Microsoft Office PowerPoint</Application>
  <PresentationFormat>Breitbild</PresentationFormat>
  <Paragraphs>25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Roboto</vt:lpstr>
      <vt:lpstr>Wingdings</vt:lpstr>
      <vt:lpstr>Office</vt:lpstr>
      <vt:lpstr>PowerPoint-Präsentation</vt:lpstr>
      <vt:lpstr>Sinn und Zweck — wieso ein strukturiertes Scharnierformat?</vt:lpstr>
      <vt:lpstr>Texte und ihre Bezüge</vt:lpstr>
      <vt:lpstr>Mapping braucht minimale Struktur</vt:lpstr>
      <vt:lpstr>Nicht Vollabbildung, sondern Anker für den Abgleich.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Beuggert Viviane BJ</dc:creator>
  <cp:lastModifiedBy>Koray Soguksu</cp:lastModifiedBy>
  <cp:revision>21</cp:revision>
  <dcterms:created xsi:type="dcterms:W3CDTF">2025-02-17T18:39:28Z</dcterms:created>
  <dcterms:modified xsi:type="dcterms:W3CDTF">2026-04-27T07:52:15Z</dcterms:modified>
</cp:coreProperties>
</file>